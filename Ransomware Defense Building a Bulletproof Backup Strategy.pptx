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5" r:id="rId1"/>
  </p:sldMasterIdLst>
  <p:notesMasterIdLst>
    <p:notesMasterId r:id="rId30"/>
  </p:notesMasterIdLst>
  <p:sldIdLst>
    <p:sldId id="256" r:id="rId2"/>
    <p:sldId id="290" r:id="rId3"/>
    <p:sldId id="257" r:id="rId4"/>
    <p:sldId id="280" r:id="rId5"/>
    <p:sldId id="258" r:id="rId6"/>
    <p:sldId id="259" r:id="rId7"/>
    <p:sldId id="282" r:id="rId8"/>
    <p:sldId id="283" r:id="rId9"/>
    <p:sldId id="263" r:id="rId10"/>
    <p:sldId id="264" r:id="rId11"/>
    <p:sldId id="265" r:id="rId12"/>
    <p:sldId id="267" r:id="rId13"/>
    <p:sldId id="268" r:id="rId14"/>
    <p:sldId id="271" r:id="rId15"/>
    <p:sldId id="284" r:id="rId16"/>
    <p:sldId id="270" r:id="rId17"/>
    <p:sldId id="285" r:id="rId18"/>
    <p:sldId id="286" r:id="rId19"/>
    <p:sldId id="287" r:id="rId20"/>
    <p:sldId id="288" r:id="rId21"/>
    <p:sldId id="272" r:id="rId22"/>
    <p:sldId id="273" r:id="rId23"/>
    <p:sldId id="274" r:id="rId24"/>
    <p:sldId id="275" r:id="rId25"/>
    <p:sldId id="276" r:id="rId26"/>
    <p:sldId id="277" r:id="rId27"/>
    <p:sldId id="279" r:id="rId28"/>
    <p:sldId id="27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nil Kumar CSE" initials="SKC" lastIdx="1" clrIdx="0">
    <p:extLst>
      <p:ext uri="{19B8F6BF-5375-455C-9EA6-DF929625EA0E}">
        <p15:presenceInfo xmlns:p15="http://schemas.microsoft.com/office/powerpoint/2012/main" userId="S::sunil.kumar@abes.ac.in::e39445de-9d11-4a12-8630-06258c479f4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7" d="100"/>
          <a:sy n="87" d="100"/>
        </p:scale>
        <p:origin x="48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07:20:28.003"/>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07:19:02.674"/>
    </inkml:context>
    <inkml:brush xml:id="br0">
      <inkml:brushProperty name="width" value="0.035" units="cm"/>
      <inkml:brushProperty name="height" value="0.035" units="cm"/>
      <inkml:brushProperty name="color" value="#E71224"/>
    </inkml:brush>
  </inkml:definitions>
  <inkml:trace contextRef="#ctx0" brushRef="#br0">0 74 24575,'2'-2'0,"-1"0"0,1 0 0,0 0 0,0 0 0,0 0 0,0 1 0,0-1 0,0 1 0,0-1 0,0 1 0,0-1 0,1 1 0,-1 0 0,4-1 0,37-10 0,-41 12 0,50-8 0,0 3 0,0 1 0,90 7 0,-31 0 0,2713-3 0,-2779-2 65,50-9 0,28-1-1560,-98 12-5331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07:19:04.835"/>
    </inkml:context>
    <inkml:brush xml:id="br0">
      <inkml:brushProperty name="width" value="0.035" units="cm"/>
      <inkml:brushProperty name="height" value="0.035" units="cm"/>
      <inkml:brushProperty name="color" value="#E71224"/>
    </inkml:brush>
  </inkml:definitions>
  <inkml:trace contextRef="#ctx0" brushRef="#br0">0 0 24575,'2'61'0,"2"1"0,18 87 0,47 116 0,45 140 0,-113-401 0,1 0 0,0 0 0,0-1 0,1 1 0,-1 0 0,1-1 0,0 1 0,-1-1 0,1 0 0,1 0 0,-1 0 0,0 0 0,1-1 0,0 1 0,-1-1 0,1 0 0,0 0 0,0 0 0,0-1 0,0 1 0,1-1 0,-1 0 0,0 0 0,5 0 0,14 1 0,1 0 0,-1-1 0,32-3 0,-22 0 0,2185-8 0,-1365 12 0,-687-2-1365,-136 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07:19:12.862"/>
    </inkml:context>
    <inkml:brush xml:id="br0">
      <inkml:brushProperty name="width" value="0.035" units="cm"/>
      <inkml:brushProperty name="height" value="0.035" units="cm"/>
      <inkml:brushProperty name="color" value="#E71224"/>
    </inkml:brush>
  </inkml:definitions>
  <inkml:trace contextRef="#ctx0" brushRef="#br0">51 1 24575,'2'107'0,"-4"116"0,-2-192 0,-1-1 0,-10 35 0,7-34 0,1 0 0,-2 34 0,7 189 76,4-127-1517,-2-101-5385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1D00A1-3E57-4A58-9333-677A02C61BF4}" type="datetimeFigureOut">
              <a:rPr lang="en-IN" smtClean="0"/>
              <a:t>23-02-2025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95B214-5450-4869-A271-AEAB06DB54FB}" type="slidenum">
              <a:rPr lang="en-IN" smtClean="0"/>
              <a:t>‹#›</a:t>
            </a:fld>
            <a:endParaRPr lang="en-IN"/>
          </a:p>
        </p:txBody>
      </p:sp>
    </p:spTree>
    <p:extLst>
      <p:ext uri="{BB962C8B-B14F-4D97-AF65-F5344CB8AC3E}">
        <p14:creationId xmlns:p14="http://schemas.microsoft.com/office/powerpoint/2010/main" val="4112390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C95B214-5450-4869-A271-AEAB06DB54FB}" type="slidenum">
              <a:rPr lang="en-IN" smtClean="0"/>
              <a:t>24</a:t>
            </a:fld>
            <a:endParaRPr lang="en-IN"/>
          </a:p>
        </p:txBody>
      </p:sp>
    </p:spTree>
    <p:extLst>
      <p:ext uri="{BB962C8B-B14F-4D97-AF65-F5344CB8AC3E}">
        <p14:creationId xmlns:p14="http://schemas.microsoft.com/office/powerpoint/2010/main" val="34874109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0D4F0D33-14B6-45DF-BC48-4824C0D281BA}" type="datetime1">
              <a:rPr lang="en-IN" smtClean="0"/>
              <a:t>23-02-2025</a:t>
            </a:fld>
            <a:endParaRPr lang="en-IN"/>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IN"/>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07C80FB7-381B-4500-9CA9-6613CD589959}" type="slidenum">
              <a:rPr lang="en-IN" smtClean="0"/>
              <a:t>‹#›</a:t>
            </a:fld>
            <a:endParaRPr lang="en-IN"/>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14218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68389B-C8A4-4E22-B126-1CD00339D024}" type="datetime1">
              <a:rPr lang="en-IN" smtClean="0"/>
              <a:t>23-02-2025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1923203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4C3274-852D-4C94-A17D-FEE8D99A989E}" type="datetime1">
              <a:rPr lang="en-IN" smtClean="0"/>
              <a:t>23-02-2025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3308311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0E5CB7-40B1-41AE-84C6-5A0CF41EAA0B}" type="datetime1">
              <a:rPr lang="en-IN" smtClean="0"/>
              <a:t>23-02-2025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3539120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129226-879D-43AD-B234-92C108CCA1B5}" type="datetime1">
              <a:rPr lang="en-IN" smtClean="0"/>
              <a:t>23-02-2025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2731999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2E699C-7B0E-4720-8384-57C342451990}" type="datetime1">
              <a:rPr lang="en-IN" smtClean="0"/>
              <a:t>23-02-2025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1562349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8CF51F-B406-4595-B77C-D8538FDD909C}" type="datetime1">
              <a:rPr lang="en-IN" smtClean="0"/>
              <a:t>23-02-2025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2731425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B41CA8-54F6-4961-A0D4-A4450C0CA2D0}" type="datetime1">
              <a:rPr lang="en-IN" smtClean="0"/>
              <a:t>23-02-2025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3565266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82FBC0-0AAD-4F8A-BAA9-4370FC9319E6}" type="datetime1">
              <a:rPr lang="en-IN" smtClean="0"/>
              <a:t>23-02-2025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2024553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435F1-A7D9-49AC-AAB3-830270435408}" type="datetime1">
              <a:rPr lang="en-IN" smtClean="0"/>
              <a:t>23-02-2025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776993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8D5AA1-786B-4E95-A10B-4E9712CAC641}" type="datetime1">
              <a:rPr lang="en-IN" smtClean="0"/>
              <a:t>23-02-2025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1809084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16086E-ED2E-450F-8922-9CDA854B20FE}" type="datetime1">
              <a:rPr lang="en-IN" smtClean="0"/>
              <a:t>23-02-2025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C80FB7-381B-4500-9CA9-6613CD589959}" type="slidenum">
              <a:rPr lang="en-IN" smtClean="0"/>
              <a:t>‹#›</a:t>
            </a:fld>
            <a:endParaRPr lang="en-IN"/>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22222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B19C9B-0E70-4B7B-B4F0-FE377DC0AF5A}" type="datetime1">
              <a:rPr lang="en-IN" smtClean="0"/>
              <a:t>23-02-2025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265355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E6358E9-E8C6-4B94-9BD5-441A9A78AE21}" type="datetime1">
              <a:rPr lang="en-IN" smtClean="0"/>
              <a:t>23-02-2025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1645475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A2055FD-7F02-4BBB-A14B-6C10D51BBF16}" type="datetime1">
              <a:rPr lang="en-IN" smtClean="0"/>
              <a:t>23-02-2025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239545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E6259-F704-448C-B189-5CAB8ED79618}" type="datetime1">
              <a:rPr lang="en-IN" smtClean="0"/>
              <a:t>23-02-2025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934077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155F58-3D12-4C08-8482-85424B5C13D7}" type="datetime1">
              <a:rPr lang="en-IN" smtClean="0"/>
              <a:t>23-02-2025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1575157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7AEBD-2818-4208-8E37-4DC65070BEB4}" type="datetime1">
              <a:rPr lang="en-IN" smtClean="0"/>
              <a:t>23-02-2025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C80FB7-381B-4500-9CA9-6613CD589959}" type="slidenum">
              <a:rPr lang="en-IN" smtClean="0"/>
              <a:t>‹#›</a:t>
            </a:fld>
            <a:endParaRPr lang="en-IN"/>
          </a:p>
        </p:txBody>
      </p:sp>
    </p:spTree>
    <p:extLst>
      <p:ext uri="{BB962C8B-B14F-4D97-AF65-F5344CB8AC3E}">
        <p14:creationId xmlns:p14="http://schemas.microsoft.com/office/powerpoint/2010/main" val="1848018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610FED8B-DB4E-4B48-85BD-42D13BB77D27}" type="datetime1">
              <a:rPr lang="en-IN" smtClean="0"/>
              <a:t>23-02-2025</a:t>
            </a:fld>
            <a:endParaRPr lang="en-IN"/>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IN"/>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07C80FB7-381B-4500-9CA9-6613CD589959}" type="slidenum">
              <a:rPr lang="en-IN" smtClean="0"/>
              <a:t>‹#›</a:t>
            </a:fld>
            <a:endParaRPr lang="en-IN"/>
          </a:p>
        </p:txBody>
      </p:sp>
    </p:spTree>
    <p:extLst>
      <p:ext uri="{BB962C8B-B14F-4D97-AF65-F5344CB8AC3E}">
        <p14:creationId xmlns:p14="http://schemas.microsoft.com/office/powerpoint/2010/main" val="969510100"/>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Lst>
  <p:hf hdr="0" ftr="0" dt="0"/>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edium.com/@suniel.vns" TargetMode="External"/><Relationship Id="rId2" Type="http://schemas.openxmlformats.org/officeDocument/2006/relationships/hyperlink" Target="https://www.youtube.com/@sunilkumarOnCloud" TargetMode="External"/><Relationship Id="rId1" Type="http://schemas.openxmlformats.org/officeDocument/2006/relationships/slideLayout" Target="../slideLayouts/slideLayout18.xml"/><Relationship Id="rId5" Type="http://schemas.openxmlformats.org/officeDocument/2006/relationships/image" Target="../media/image4.jpeg"/><Relationship Id="rId4" Type="http://schemas.openxmlformats.org/officeDocument/2006/relationships/hyperlink" Target="https://topmate.io/sunilkumar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hyperlink" Target="https://quizizz.com/admin/quiz/6262702594bac3001d85bf66" TargetMode="Externa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WannaCry_ransomware_attack" TargetMode="Externa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en.wikipedia.org/wiki/WannaCry_ransomware_attack" TargetMode="Externa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en.wikipedia.org/wiki/WannaCry_ransomware_attack" TargetMode="Externa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hyperlink" Target="https://youtu.be/elODShatt-c?si=FaAfSgKtNQxzTwHn" TargetMode="Externa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customXml" Target="../ink/ink2.xml"/><Relationship Id="rId7" Type="http://schemas.openxmlformats.org/officeDocument/2006/relationships/customXml" Target="../ink/ink4.xml"/><Relationship Id="rId2" Type="http://schemas.openxmlformats.org/officeDocument/2006/relationships/image" Target="../media/image9.png"/><Relationship Id="rId1" Type="http://schemas.openxmlformats.org/officeDocument/2006/relationships/slideLayout" Target="../slideLayouts/slideLayout18.xml"/><Relationship Id="rId6" Type="http://schemas.openxmlformats.org/officeDocument/2006/relationships/image" Target="../media/image80.png"/><Relationship Id="rId5" Type="http://schemas.openxmlformats.org/officeDocument/2006/relationships/customXml" Target="../ink/ink3.xml"/><Relationship Id="rId4" Type="http://schemas.openxmlformats.org/officeDocument/2006/relationships/image" Target="../media/image70.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hyperlink" Target="https://learn.microsoft.com/en-us/azure/backup/backup-azure-recovery-services-vault-overview" TargetMode="Externa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hyperlink" Target="https://learn.microsoft.com/en-us/azure/active-directory/hybrid/whatis-azure-ad-connect" TargetMode="Externa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hyperlink" Target="https://www.ic3.gov/" TargetMode="External"/><Relationship Id="rId2" Type="http://schemas.openxmlformats.org/officeDocument/2006/relationships/hyperlink" Target="https://www.microsoft.com/security/blog/2019/03/25/dart-the-microsoft-cybersecurity-team-we-hope-you-never-meet/" TargetMode="Externa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hyperlink" Target="https://learn.microsoft.com/en-us/azure/security/fundamentals/backup-plan-to-protect-against-ransomware" TargetMode="Externa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73F9C-6C58-28A4-0E02-EA25A4B3097E}"/>
              </a:ext>
            </a:extLst>
          </p:cNvPr>
          <p:cNvSpPr>
            <a:spLocks noGrp="1"/>
          </p:cNvSpPr>
          <p:nvPr>
            <p:ph type="ctrTitle"/>
          </p:nvPr>
        </p:nvSpPr>
        <p:spPr>
          <a:xfrm rot="21420000">
            <a:off x="906299" y="662260"/>
            <a:ext cx="9755187" cy="3343510"/>
          </a:xfrm>
        </p:spPr>
        <p:txBody>
          <a:bodyPr>
            <a:normAutofit fontScale="90000"/>
          </a:bodyPr>
          <a:lstStyle/>
          <a:p>
            <a:r>
              <a:rPr lang="en-US" dirty="0">
                <a:latin typeface="Times New Roman" panose="02020603050405020304" pitchFamily="18" charset="0"/>
                <a:cs typeface="Times New Roman" panose="02020603050405020304" pitchFamily="18" charset="0"/>
              </a:rPr>
              <a:t>Ransomware Defense: Building a Bulletproof Backup Strategy</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DBC8663-B178-E8C4-4472-2261DE3AD011}"/>
              </a:ext>
            </a:extLst>
          </p:cNvPr>
          <p:cNvSpPr>
            <a:spLocks noGrp="1"/>
          </p:cNvSpPr>
          <p:nvPr>
            <p:ph type="subTitle" idx="1"/>
          </p:nvPr>
        </p:nvSpPr>
        <p:spPr>
          <a:xfrm rot="21420000">
            <a:off x="1282000" y="3937458"/>
            <a:ext cx="9755187" cy="550333"/>
          </a:xfrm>
        </p:spPr>
        <p:txBody>
          <a:bodyPr/>
          <a:lstStyle/>
          <a:p>
            <a:r>
              <a:rPr lang="en-IN" dirty="0"/>
              <a:t>Mr Sunil Kumar</a:t>
            </a:r>
          </a:p>
        </p:txBody>
      </p:sp>
    </p:spTree>
    <p:extLst>
      <p:ext uri="{BB962C8B-B14F-4D97-AF65-F5344CB8AC3E}">
        <p14:creationId xmlns:p14="http://schemas.microsoft.com/office/powerpoint/2010/main" val="571472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D1B09-FF00-D712-F0C0-FA9823D39486}"/>
              </a:ext>
            </a:extLst>
          </p:cNvPr>
          <p:cNvSpPr>
            <a:spLocks noGrp="1"/>
          </p:cNvSpPr>
          <p:nvPr>
            <p:ph type="title"/>
          </p:nvPr>
        </p:nvSpPr>
        <p:spPr>
          <a:xfrm>
            <a:off x="838200" y="162561"/>
            <a:ext cx="10515600" cy="646331"/>
          </a:xfrm>
        </p:spPr>
        <p:txBody>
          <a:bodyPr>
            <a:normAutofit fontScale="90000"/>
          </a:bodyPr>
          <a:lstStyle/>
          <a:p>
            <a:r>
              <a:rPr lang="en-IN" b="1" dirty="0">
                <a:latin typeface="Times New Roman" panose="02020603050405020304" pitchFamily="18" charset="0"/>
                <a:cs typeface="Times New Roman" panose="02020603050405020304" pitchFamily="18" charset="0"/>
              </a:rPr>
              <a:t>About me</a:t>
            </a:r>
          </a:p>
        </p:txBody>
      </p:sp>
      <p:sp>
        <p:nvSpPr>
          <p:cNvPr id="20" name="Slide Number Placeholder 19">
            <a:extLst>
              <a:ext uri="{FF2B5EF4-FFF2-40B4-BE49-F238E27FC236}">
                <a16:creationId xmlns:a16="http://schemas.microsoft.com/office/drawing/2014/main" id="{9BDC5256-2A97-767B-F22B-70DA6DEE803D}"/>
              </a:ext>
            </a:extLst>
          </p:cNvPr>
          <p:cNvSpPr>
            <a:spLocks noGrp="1"/>
          </p:cNvSpPr>
          <p:nvPr>
            <p:ph type="sldNum" sz="quarter" idx="12"/>
          </p:nvPr>
        </p:nvSpPr>
        <p:spPr/>
        <p:txBody>
          <a:bodyPr/>
          <a:lstStyle/>
          <a:p>
            <a:fld id="{35E45D84-01B6-4C9B-BEF9-9DFEA125E23E}" type="slidenum">
              <a:rPr lang="en-IN" smtClean="0"/>
              <a:t>2</a:t>
            </a:fld>
            <a:endParaRPr lang="en-IN"/>
          </a:p>
        </p:txBody>
      </p:sp>
      <p:sp>
        <p:nvSpPr>
          <p:cNvPr id="14" name="TextBox 13">
            <a:extLst>
              <a:ext uri="{FF2B5EF4-FFF2-40B4-BE49-F238E27FC236}">
                <a16:creationId xmlns:a16="http://schemas.microsoft.com/office/drawing/2014/main" id="{8A008D7F-0A6A-440D-4902-A72DFD8667BD}"/>
              </a:ext>
            </a:extLst>
          </p:cNvPr>
          <p:cNvSpPr txBox="1"/>
          <p:nvPr/>
        </p:nvSpPr>
        <p:spPr>
          <a:xfrm>
            <a:off x="3982915" y="720684"/>
            <a:ext cx="7795847" cy="5478423"/>
          </a:xfrm>
          <a:prstGeom prst="rect">
            <a:avLst/>
          </a:prstGeom>
          <a:noFill/>
        </p:spPr>
        <p:txBody>
          <a:bodyPr wrap="square" rtlCol="0">
            <a:spAutoFit/>
          </a:bodyPr>
          <a:lstStyle/>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Freelance corporate trainer</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Tech enthusiast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Tech community builder</a:t>
            </a:r>
          </a:p>
          <a:p>
            <a:pPr marL="34290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YouTube:</a:t>
            </a:r>
            <a:r>
              <a:rPr lang="en-IN" sz="2400" dirty="0" err="1">
                <a:latin typeface="Times New Roman" panose="02020603050405020304" pitchFamily="18" charset="0"/>
                <a:cs typeface="Times New Roman" panose="02020603050405020304" pitchFamily="18" charset="0"/>
                <a:hlinkClick r:id="rId2"/>
              </a:rPr>
              <a:t>https</a:t>
            </a:r>
            <a:r>
              <a:rPr lang="en-IN" sz="2400" dirty="0">
                <a:latin typeface="Times New Roman" panose="02020603050405020304" pitchFamily="18" charset="0"/>
                <a:cs typeface="Times New Roman" panose="02020603050405020304" pitchFamily="18" charset="0"/>
                <a:hlinkClick r:id="rId2"/>
              </a:rPr>
              <a:t>://www.youtube.com/@sunilkumarOnCloud</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Medium blog: </a:t>
            </a:r>
            <a:r>
              <a:rPr lang="en-IN" sz="2400" dirty="0">
                <a:latin typeface="Times New Roman" panose="02020603050405020304" pitchFamily="18" charset="0"/>
                <a:cs typeface="Times New Roman" panose="02020603050405020304" pitchFamily="18" charset="0"/>
                <a:hlinkClick r:id="rId3"/>
              </a:rPr>
              <a:t>https://medium.com/@suniel.vns</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Topmate</a:t>
            </a:r>
            <a:r>
              <a:rPr lang="en-IN"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hlinkClick r:id="rId4"/>
              </a:rPr>
              <a:t>https://topmate.io/sunilkumar7</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Twitter: @techwithsunil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Toastmasters International member</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Runner</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p:txBody>
      </p:sp>
      <p:pic>
        <p:nvPicPr>
          <p:cNvPr id="18" name="Picture 17">
            <a:extLst>
              <a:ext uri="{FF2B5EF4-FFF2-40B4-BE49-F238E27FC236}">
                <a16:creationId xmlns:a16="http://schemas.microsoft.com/office/drawing/2014/main" id="{D17C3253-77EE-0E5E-5B86-7BA8EB2199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1603913"/>
            <a:ext cx="2471100" cy="2225315"/>
          </a:xfrm>
          <a:prstGeom prst="rect">
            <a:avLst/>
          </a:prstGeom>
        </p:spPr>
      </p:pic>
      <p:sp>
        <p:nvSpPr>
          <p:cNvPr id="19" name="TextBox 18">
            <a:extLst>
              <a:ext uri="{FF2B5EF4-FFF2-40B4-BE49-F238E27FC236}">
                <a16:creationId xmlns:a16="http://schemas.microsoft.com/office/drawing/2014/main" id="{E196D7F2-81D0-BD21-11A2-5453D745A59D}"/>
              </a:ext>
            </a:extLst>
          </p:cNvPr>
          <p:cNvSpPr txBox="1"/>
          <p:nvPr/>
        </p:nvSpPr>
        <p:spPr>
          <a:xfrm>
            <a:off x="70338" y="4320778"/>
            <a:ext cx="3912577" cy="923330"/>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https://www.linkedin.com/in/sunilkumardigi/ </a:t>
            </a:r>
          </a:p>
          <a:p>
            <a:endParaRPr lang="en-IN" dirty="0"/>
          </a:p>
        </p:txBody>
      </p:sp>
    </p:spTree>
    <p:extLst>
      <p:ext uri="{BB962C8B-B14F-4D97-AF65-F5344CB8AC3E}">
        <p14:creationId xmlns:p14="http://schemas.microsoft.com/office/powerpoint/2010/main" val="50021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46D87-4724-60A4-3D1A-7460E86EF329}"/>
              </a:ext>
            </a:extLst>
          </p:cNvPr>
          <p:cNvSpPr>
            <a:spLocks noGrp="1"/>
          </p:cNvSpPr>
          <p:nvPr>
            <p:ph type="title"/>
          </p:nvPr>
        </p:nvSpPr>
        <p:spPr>
          <a:xfrm>
            <a:off x="715108" y="0"/>
            <a:ext cx="10515600" cy="645990"/>
          </a:xfrm>
        </p:spPr>
        <p:txBody>
          <a:bodyPr>
            <a:normAutofit fontScale="90000"/>
          </a:bodyPr>
          <a:lstStyle/>
          <a:p>
            <a:r>
              <a:rPr lang="en-IN" dirty="0">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A8C86784-266B-FF16-BE38-67A18DC0266E}"/>
              </a:ext>
            </a:extLst>
          </p:cNvPr>
          <p:cNvSpPr>
            <a:spLocks noGrp="1"/>
          </p:cNvSpPr>
          <p:nvPr>
            <p:ph idx="1"/>
          </p:nvPr>
        </p:nvSpPr>
        <p:spPr>
          <a:xfrm>
            <a:off x="715108" y="870438"/>
            <a:ext cx="10515600" cy="4580793"/>
          </a:xfrm>
        </p:spPr>
        <p:txBody>
          <a:bodyPr>
            <a:normAutofit fontScale="55000" lnSpcReduction="20000"/>
          </a:bodyPr>
          <a:lstStyle/>
          <a:p>
            <a:pPr marL="342900" lvl="0" indent="-342900">
              <a:lnSpc>
                <a:spcPct val="107000"/>
              </a:lnSpc>
              <a:buFont typeface="Symbol" panose="05050102010706020507" pitchFamily="18" charset="2"/>
              <a:buChar char=""/>
            </a:pP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What is ransomware?</a:t>
            </a:r>
          </a:p>
          <a:p>
            <a:pPr marL="342900" lvl="0" indent="-342900">
              <a:lnSpc>
                <a:spcPct val="107000"/>
              </a:lnSpc>
              <a:buFont typeface="Symbol" panose="05050102010706020507" pitchFamily="18" charset="2"/>
              <a:buChar char=""/>
            </a:pP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Why attacks succeed?</a:t>
            </a:r>
          </a:p>
          <a:p>
            <a:pPr marL="342900" lvl="0" indent="-342900">
              <a:lnSpc>
                <a:spcPct val="107000"/>
              </a:lnSpc>
              <a:buFont typeface="Symbol" panose="05050102010706020507" pitchFamily="18" charset="2"/>
              <a:buChar char=""/>
            </a:pPr>
            <a:r>
              <a:rPr lang="en-IN" sz="3100" kern="100" dirty="0">
                <a:latin typeface="Times New Roman" panose="02020603050405020304" pitchFamily="18" charset="0"/>
                <a:ea typeface="Calibri" panose="020F0502020204030204" pitchFamily="34" charset="0"/>
                <a:cs typeface="Times New Roman" panose="02020603050405020304" pitchFamily="18" charset="0"/>
              </a:rPr>
              <a:t>What is the cost to</a:t>
            </a: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 business?</a:t>
            </a:r>
          </a:p>
          <a:p>
            <a:pPr marL="342900" lvl="0" indent="-342900">
              <a:lnSpc>
                <a:spcPct val="107000"/>
              </a:lnSpc>
              <a:buFont typeface="Symbol" panose="05050102010706020507" pitchFamily="18" charset="2"/>
              <a:buChar char=""/>
            </a:pP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How to protect?</a:t>
            </a:r>
          </a:p>
          <a:p>
            <a:pPr marL="342900" lvl="0" indent="-342900">
              <a:lnSpc>
                <a:spcPct val="107000"/>
              </a:lnSpc>
              <a:buFont typeface="Symbol" panose="05050102010706020507" pitchFamily="18" charset="2"/>
              <a:buChar char=""/>
            </a:pPr>
            <a:r>
              <a:rPr lang="en-IN" sz="3100" kern="100" dirty="0">
                <a:latin typeface="Times New Roman" panose="02020603050405020304" pitchFamily="18" charset="0"/>
                <a:ea typeface="Calibri" panose="020F0502020204030204" pitchFamily="34" charset="0"/>
                <a:cs typeface="Times New Roman" panose="02020603050405020304" pitchFamily="18" charset="0"/>
              </a:rPr>
              <a:t>Azure backup</a:t>
            </a:r>
          </a:p>
          <a:p>
            <a:pPr marL="342900" lvl="0" indent="-342900">
              <a:lnSpc>
                <a:spcPct val="107000"/>
              </a:lnSpc>
              <a:buFont typeface="Symbol" panose="05050102010706020507" pitchFamily="18" charset="2"/>
              <a:buChar char=""/>
            </a:pP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Azure backup demo</a:t>
            </a:r>
          </a:p>
          <a:p>
            <a:pPr marL="342900" lvl="0" indent="-342900">
              <a:lnSpc>
                <a:spcPct val="107000"/>
              </a:lnSpc>
              <a:buFont typeface="Symbol" panose="05050102010706020507" pitchFamily="18" charset="2"/>
              <a:buChar char=""/>
            </a:pP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Validate backup</a:t>
            </a:r>
          </a:p>
          <a:p>
            <a:pPr marL="342900" lvl="0" indent="-342900">
              <a:lnSpc>
                <a:spcPct val="107000"/>
              </a:lnSpc>
              <a:buFont typeface="Symbol" panose="05050102010706020507" pitchFamily="18" charset="2"/>
              <a:buChar char=""/>
            </a:pP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What to do before an attack</a:t>
            </a:r>
          </a:p>
          <a:p>
            <a:pPr marL="342900" lvl="0" indent="-342900">
              <a:lnSpc>
                <a:spcPct val="107000"/>
              </a:lnSpc>
              <a:buFont typeface="Symbol" panose="05050102010706020507" pitchFamily="18" charset="2"/>
              <a:buChar char=""/>
            </a:pP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What to do during an attack</a:t>
            </a:r>
          </a:p>
          <a:p>
            <a:pPr marL="342900" lvl="0" indent="-342900">
              <a:lnSpc>
                <a:spcPct val="107000"/>
              </a:lnSpc>
              <a:buFont typeface="Symbol" panose="05050102010706020507" pitchFamily="18" charset="2"/>
              <a:buChar char=""/>
            </a:pP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Post attack </a:t>
            </a:r>
          </a:p>
          <a:p>
            <a:pPr marL="342900" lvl="0" indent="-342900">
              <a:lnSpc>
                <a:spcPct val="107000"/>
              </a:lnSpc>
              <a:spcAft>
                <a:spcPts val="800"/>
              </a:spcAft>
              <a:buFont typeface="Symbol" panose="05050102010706020507" pitchFamily="18" charset="2"/>
              <a:buChar char=""/>
            </a:pP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3100" kern="100" dirty="0">
                <a:latin typeface="Times New Roman" panose="02020603050405020304" pitchFamily="18" charset="0"/>
                <a:ea typeface="Calibri" panose="020F0502020204030204" pitchFamily="34" charset="0"/>
                <a:cs typeface="Times New Roman" panose="02020603050405020304" pitchFamily="18" charset="0"/>
              </a:rPr>
              <a:t>References</a:t>
            </a:r>
          </a:p>
          <a:p>
            <a:pPr marL="342900" lvl="0" indent="-342900">
              <a:lnSpc>
                <a:spcPct val="107000"/>
              </a:lnSpc>
              <a:spcAft>
                <a:spcPts val="800"/>
              </a:spcAft>
              <a:buFont typeface="Symbol" panose="05050102010706020507" pitchFamily="18" charset="2"/>
              <a:buChar char=""/>
            </a:pPr>
            <a:r>
              <a:rPr lang="en-IN" sz="3100" kern="100" dirty="0">
                <a:effectLst/>
                <a:latin typeface="Times New Roman" panose="02020603050405020304" pitchFamily="18" charset="0"/>
                <a:ea typeface="Calibri" panose="020F0502020204030204" pitchFamily="34" charset="0"/>
                <a:cs typeface="Times New Roman" panose="02020603050405020304" pitchFamily="18" charset="0"/>
              </a:rPr>
              <a:t>Q&amp;A</a:t>
            </a:r>
          </a:p>
          <a:p>
            <a:endParaRPr lang="en-IN" dirty="0"/>
          </a:p>
        </p:txBody>
      </p:sp>
      <p:sp>
        <p:nvSpPr>
          <p:cNvPr id="4" name="Slide Number Placeholder 3">
            <a:extLst>
              <a:ext uri="{FF2B5EF4-FFF2-40B4-BE49-F238E27FC236}">
                <a16:creationId xmlns:a16="http://schemas.microsoft.com/office/drawing/2014/main" id="{9E021845-A333-F81E-8999-2FD829B4673A}"/>
              </a:ext>
            </a:extLst>
          </p:cNvPr>
          <p:cNvSpPr>
            <a:spLocks noGrp="1"/>
          </p:cNvSpPr>
          <p:nvPr>
            <p:ph type="sldNum" sz="quarter" idx="12"/>
          </p:nvPr>
        </p:nvSpPr>
        <p:spPr/>
        <p:txBody>
          <a:bodyPr/>
          <a:lstStyle/>
          <a:p>
            <a:fld id="{07C80FB7-381B-4500-9CA9-6613CD589959}" type="slidenum">
              <a:rPr lang="en-IN" smtClean="0"/>
              <a:t>3</a:t>
            </a:fld>
            <a:endParaRPr lang="en-IN"/>
          </a:p>
        </p:txBody>
      </p:sp>
    </p:spTree>
    <p:extLst>
      <p:ext uri="{BB962C8B-B14F-4D97-AF65-F5344CB8AC3E}">
        <p14:creationId xmlns:p14="http://schemas.microsoft.com/office/powerpoint/2010/main" val="3994454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8A9D0-1D10-40CF-5D19-6B22A071F0A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Know your audience quiz!</a:t>
            </a:r>
          </a:p>
        </p:txBody>
      </p:sp>
      <p:sp>
        <p:nvSpPr>
          <p:cNvPr id="3" name="Content Placeholder 2">
            <a:extLst>
              <a:ext uri="{FF2B5EF4-FFF2-40B4-BE49-F238E27FC236}">
                <a16:creationId xmlns:a16="http://schemas.microsoft.com/office/drawing/2014/main" id="{5FF1E642-C060-33D1-D18C-99CD5FA88600}"/>
              </a:ext>
            </a:extLst>
          </p:cNvPr>
          <p:cNvSpPr>
            <a:spLocks noGrp="1"/>
          </p:cNvSpPr>
          <p:nvPr>
            <p:ph idx="1"/>
          </p:nvPr>
        </p:nvSpPr>
        <p:spPr>
          <a:xfrm>
            <a:off x="818712" y="2222287"/>
            <a:ext cx="10554574" cy="1839759"/>
          </a:xfrm>
        </p:spPr>
        <p:txBody>
          <a:bodyPr/>
          <a:lstStyle/>
          <a:p>
            <a:r>
              <a:rPr lang="en-IN" dirty="0">
                <a:hlinkClick r:id="rId2"/>
              </a:rPr>
              <a:t>https://quizizz.com/admin/quiz/6262702594bac3001d85bf66</a:t>
            </a:r>
            <a:endParaRPr lang="en-IN" dirty="0"/>
          </a:p>
          <a:p>
            <a:endParaRPr lang="en-IN" dirty="0"/>
          </a:p>
        </p:txBody>
      </p:sp>
      <p:sp>
        <p:nvSpPr>
          <p:cNvPr id="4" name="Slide Number Placeholder 3">
            <a:extLst>
              <a:ext uri="{FF2B5EF4-FFF2-40B4-BE49-F238E27FC236}">
                <a16:creationId xmlns:a16="http://schemas.microsoft.com/office/drawing/2014/main" id="{2696F79D-5F5B-16B4-35AD-4D537CE61D4A}"/>
              </a:ext>
            </a:extLst>
          </p:cNvPr>
          <p:cNvSpPr>
            <a:spLocks noGrp="1"/>
          </p:cNvSpPr>
          <p:nvPr>
            <p:ph type="sldNum" sz="quarter" idx="12"/>
          </p:nvPr>
        </p:nvSpPr>
        <p:spPr/>
        <p:txBody>
          <a:bodyPr/>
          <a:lstStyle/>
          <a:p>
            <a:fld id="{07C80FB7-381B-4500-9CA9-6613CD589959}" type="slidenum">
              <a:rPr lang="en-IN" smtClean="0"/>
              <a:t>4</a:t>
            </a:fld>
            <a:endParaRPr lang="en-IN"/>
          </a:p>
        </p:txBody>
      </p:sp>
    </p:spTree>
    <p:extLst>
      <p:ext uri="{BB962C8B-B14F-4D97-AF65-F5344CB8AC3E}">
        <p14:creationId xmlns:p14="http://schemas.microsoft.com/office/powerpoint/2010/main" val="3880766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007DD-6BF1-46C4-2E16-7AB81BD0317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Ransomware</a:t>
            </a:r>
          </a:p>
        </p:txBody>
      </p:sp>
      <p:sp>
        <p:nvSpPr>
          <p:cNvPr id="3" name="Content Placeholder 2">
            <a:extLst>
              <a:ext uri="{FF2B5EF4-FFF2-40B4-BE49-F238E27FC236}">
                <a16:creationId xmlns:a16="http://schemas.microsoft.com/office/drawing/2014/main" id="{F3693790-F1DA-A24A-F721-FB56889EA94E}"/>
              </a:ext>
            </a:extLst>
          </p:cNvPr>
          <p:cNvSpPr>
            <a:spLocks noGrp="1"/>
          </p:cNvSpPr>
          <p:nvPr>
            <p:ph idx="1"/>
          </p:nvPr>
        </p:nvSpPr>
        <p:spPr>
          <a:xfrm>
            <a:off x="567104" y="1222131"/>
            <a:ext cx="11057792" cy="4255478"/>
          </a:xfrm>
        </p:spPr>
        <p:txBody>
          <a:bodyPr>
            <a:normAutofit/>
          </a:bodyPr>
          <a:lstStyle/>
          <a:p>
            <a:pPr algn="just"/>
            <a:r>
              <a:rPr lang="en-US" b="0" i="0" dirty="0">
                <a:solidFill>
                  <a:srgbClr val="161616"/>
                </a:solidFill>
                <a:effectLst/>
                <a:latin typeface="Times New Roman" panose="02020603050405020304" pitchFamily="18" charset="0"/>
                <a:cs typeface="Times New Roman" panose="02020603050405020304" pitchFamily="18" charset="0"/>
              </a:rPr>
              <a:t>Ransomware is a type of </a:t>
            </a:r>
            <a:r>
              <a:rPr lang="en-US" b="1" i="0" dirty="0">
                <a:solidFill>
                  <a:srgbClr val="161616"/>
                </a:solidFill>
                <a:effectLst/>
                <a:latin typeface="Times New Roman" panose="02020603050405020304" pitchFamily="18" charset="0"/>
                <a:cs typeface="Times New Roman" panose="02020603050405020304" pitchFamily="18" charset="0"/>
              </a:rPr>
              <a:t>malware* </a:t>
            </a:r>
            <a:r>
              <a:rPr lang="en-US" b="0" i="0" dirty="0">
                <a:solidFill>
                  <a:srgbClr val="161616"/>
                </a:solidFill>
                <a:effectLst/>
                <a:latin typeface="Times New Roman" panose="02020603050405020304" pitchFamily="18" charset="0"/>
                <a:cs typeface="Times New Roman" panose="02020603050405020304" pitchFamily="18" charset="0"/>
              </a:rPr>
              <a:t>that infects a computer and restricts a user's access to the infected system or specific files in order to extort them for money.</a:t>
            </a:r>
          </a:p>
          <a:p>
            <a:pPr marL="0" indent="0">
              <a:buNone/>
            </a:pPr>
            <a:endParaRPr lang="en-IN" dirty="0"/>
          </a:p>
          <a:p>
            <a:pPr marL="0" indent="0" algn="just">
              <a:buNone/>
            </a:pPr>
            <a:r>
              <a:rPr lang="en-US" sz="2000" dirty="0">
                <a:latin typeface="Times New Roman" panose="02020603050405020304" pitchFamily="18" charset="0"/>
                <a:cs typeface="Times New Roman" panose="02020603050405020304" pitchFamily="18" charset="0"/>
              </a:rPr>
              <a:t>*short for malicious software, is any software intentionally designed to harm, exploit, or otherwise compromise devices, networks, or data.</a:t>
            </a:r>
            <a:endParaRPr lang="en-US" sz="2000" b="0" i="0" dirty="0">
              <a:solidFill>
                <a:srgbClr val="161616"/>
              </a:solidFill>
              <a:effectLst/>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7EFCD9B1-6170-207F-211C-22F9DFA85908}"/>
              </a:ext>
            </a:extLst>
          </p:cNvPr>
          <p:cNvSpPr>
            <a:spLocks noGrp="1"/>
          </p:cNvSpPr>
          <p:nvPr>
            <p:ph type="sldNum" sz="quarter" idx="12"/>
          </p:nvPr>
        </p:nvSpPr>
        <p:spPr/>
        <p:txBody>
          <a:bodyPr/>
          <a:lstStyle/>
          <a:p>
            <a:fld id="{07C80FB7-381B-4500-9CA9-6613CD589959}" type="slidenum">
              <a:rPr lang="en-IN" smtClean="0"/>
              <a:t>5</a:t>
            </a:fld>
            <a:endParaRPr lang="en-IN"/>
          </a:p>
        </p:txBody>
      </p:sp>
    </p:spTree>
    <p:extLst>
      <p:ext uri="{BB962C8B-B14F-4D97-AF65-F5344CB8AC3E}">
        <p14:creationId xmlns:p14="http://schemas.microsoft.com/office/powerpoint/2010/main" val="68700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297C0-A1C6-CEDA-5D46-11DFA732CBE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Ransomware cont..</a:t>
            </a:r>
          </a:p>
        </p:txBody>
      </p:sp>
      <p:sp>
        <p:nvSpPr>
          <p:cNvPr id="7" name="Content Placeholder 6">
            <a:extLst>
              <a:ext uri="{FF2B5EF4-FFF2-40B4-BE49-F238E27FC236}">
                <a16:creationId xmlns:a16="http://schemas.microsoft.com/office/drawing/2014/main" id="{031854C3-AC10-7EB9-6029-DD82FD632322}"/>
              </a:ext>
            </a:extLst>
          </p:cNvPr>
          <p:cNvSpPr>
            <a:spLocks noGrp="1"/>
          </p:cNvSpPr>
          <p:nvPr>
            <p:ph idx="1"/>
          </p:nvPr>
        </p:nvSpPr>
        <p:spPr>
          <a:xfrm>
            <a:off x="721997" y="1610744"/>
            <a:ext cx="10554574" cy="3636511"/>
          </a:xfrm>
        </p:spPr>
        <p:txBody>
          <a:bodyPr/>
          <a:lstStyle/>
          <a:p>
            <a:r>
              <a:rPr lang="en-US" b="0" i="0" dirty="0">
                <a:solidFill>
                  <a:srgbClr val="161616"/>
                </a:solidFill>
                <a:effectLst/>
                <a:latin typeface="Times New Roman" panose="02020603050405020304" pitchFamily="18" charset="0"/>
                <a:cs typeface="Times New Roman" panose="02020603050405020304" pitchFamily="18" charset="0"/>
              </a:rPr>
              <a:t>After the target system is compromised, it typically locks out most interaction </a:t>
            </a:r>
          </a:p>
          <a:p>
            <a:r>
              <a:rPr lang="en-US" b="0" i="0" dirty="0">
                <a:solidFill>
                  <a:srgbClr val="161616"/>
                </a:solidFill>
                <a:effectLst/>
                <a:latin typeface="Times New Roman" panose="02020603050405020304" pitchFamily="18" charset="0"/>
                <a:cs typeface="Times New Roman" panose="02020603050405020304" pitchFamily="18" charset="0"/>
              </a:rPr>
              <a:t>displays an on-screen alert, typically stating that the system is locked or that all of their files have been encrypted. </a:t>
            </a:r>
          </a:p>
          <a:p>
            <a:endParaRPr lang="en-IN" b="0" i="0" dirty="0">
              <a:solidFill>
                <a:srgbClr val="3E3F42"/>
              </a:solidFill>
              <a:effectLst/>
              <a:latin typeface="Helvetica Neue"/>
              <a:hlinkClick r:id="rId2"/>
            </a:endParaRPr>
          </a:p>
          <a:p>
            <a:pPr marL="0" indent="0">
              <a:buNone/>
            </a:pPr>
            <a:r>
              <a:rPr lang="en-IN" dirty="0">
                <a:solidFill>
                  <a:srgbClr val="3E3F42"/>
                </a:solidFill>
                <a:latin typeface="Helvetica Neue"/>
                <a:hlinkClick r:id="rId2"/>
              </a:rPr>
              <a:t>Example</a:t>
            </a:r>
            <a:r>
              <a:rPr lang="en-IN" b="0" i="0" dirty="0">
                <a:solidFill>
                  <a:srgbClr val="3E3F42"/>
                </a:solidFill>
                <a:effectLst/>
                <a:latin typeface="Helvetica Neue"/>
                <a:hlinkClick r:id="rId2"/>
              </a:rPr>
              <a:t>: WannaCry Ransomware</a:t>
            </a:r>
            <a:r>
              <a:rPr lang="en-IN" b="0" i="0" dirty="0">
                <a:solidFill>
                  <a:srgbClr val="3E3F42"/>
                </a:solidFill>
                <a:effectLst/>
                <a:latin typeface="Helvetica Neue"/>
              </a:rPr>
              <a:t>- May 2017</a:t>
            </a:r>
          </a:p>
          <a:p>
            <a:endParaRPr lang="en-IN" dirty="0"/>
          </a:p>
        </p:txBody>
      </p:sp>
      <p:sp>
        <p:nvSpPr>
          <p:cNvPr id="3" name="Slide Number Placeholder 2">
            <a:extLst>
              <a:ext uri="{FF2B5EF4-FFF2-40B4-BE49-F238E27FC236}">
                <a16:creationId xmlns:a16="http://schemas.microsoft.com/office/drawing/2014/main" id="{146041EF-3627-74B7-5364-DD2AF6AE9477}"/>
              </a:ext>
            </a:extLst>
          </p:cNvPr>
          <p:cNvSpPr>
            <a:spLocks noGrp="1"/>
          </p:cNvSpPr>
          <p:nvPr>
            <p:ph type="sldNum" sz="quarter" idx="12"/>
          </p:nvPr>
        </p:nvSpPr>
        <p:spPr/>
        <p:txBody>
          <a:bodyPr/>
          <a:lstStyle/>
          <a:p>
            <a:fld id="{07C80FB7-381B-4500-9CA9-6613CD589959}" type="slidenum">
              <a:rPr lang="en-IN" smtClean="0"/>
              <a:t>6</a:t>
            </a:fld>
            <a:endParaRPr lang="en-IN"/>
          </a:p>
        </p:txBody>
      </p:sp>
    </p:spTree>
    <p:extLst>
      <p:ext uri="{BB962C8B-B14F-4D97-AF65-F5344CB8AC3E}">
        <p14:creationId xmlns:p14="http://schemas.microsoft.com/office/powerpoint/2010/main" val="306233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B38E7-5D36-5569-A4FE-61B146E479B0}"/>
              </a:ext>
            </a:extLst>
          </p:cNvPr>
          <p:cNvSpPr>
            <a:spLocks noGrp="1"/>
          </p:cNvSpPr>
          <p:nvPr>
            <p:ph type="title"/>
          </p:nvPr>
        </p:nvSpPr>
        <p:spPr>
          <a:xfrm>
            <a:off x="1213338" y="365125"/>
            <a:ext cx="10140462" cy="401615"/>
          </a:xfrm>
        </p:spPr>
        <p:txBody>
          <a:bodyPr>
            <a:normAutofit fontScale="90000"/>
          </a:bodyPr>
          <a:lstStyle/>
          <a:p>
            <a:r>
              <a:rPr lang="en-IN" dirty="0">
                <a:latin typeface="Times New Roman" panose="02020603050405020304" pitchFamily="18" charset="0"/>
                <a:cs typeface="Times New Roman" panose="02020603050405020304" pitchFamily="18" charset="0"/>
              </a:rPr>
              <a:t>On-screen alert-</a:t>
            </a:r>
            <a:r>
              <a:rPr lang="en-IN" b="0" i="0" dirty="0">
                <a:solidFill>
                  <a:srgbClr val="3E3F42"/>
                </a:solidFill>
                <a:effectLst/>
                <a:latin typeface="Helvetica Neue"/>
                <a:hlinkClick r:id="rId2"/>
              </a:rPr>
              <a:t> </a:t>
            </a:r>
            <a:r>
              <a:rPr lang="en-IN"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WannaCry Ransomware</a:t>
            </a:r>
            <a:endParaRPr lang="en-IN"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D106BF0D-A926-BAFF-843A-C345306298A6}"/>
              </a:ext>
            </a:extLst>
          </p:cNvPr>
          <p:cNvSpPr>
            <a:spLocks noGrp="1"/>
          </p:cNvSpPr>
          <p:nvPr>
            <p:ph idx="1"/>
          </p:nvPr>
        </p:nvSpPr>
        <p:spPr>
          <a:xfrm>
            <a:off x="741485" y="1157633"/>
            <a:ext cx="10515600" cy="5076113"/>
          </a:xfrm>
        </p:spPr>
        <p:txBody>
          <a:bodyPr/>
          <a:lstStyle/>
          <a:p>
            <a:endParaRPr lang="en-IN" dirty="0"/>
          </a:p>
        </p:txBody>
      </p:sp>
      <p:pic>
        <p:nvPicPr>
          <p:cNvPr id="9" name="Picture 8">
            <a:extLst>
              <a:ext uri="{FF2B5EF4-FFF2-40B4-BE49-F238E27FC236}">
                <a16:creationId xmlns:a16="http://schemas.microsoft.com/office/drawing/2014/main" id="{31268186-563C-FB79-67E3-3F29674371E5}"/>
              </a:ext>
            </a:extLst>
          </p:cNvPr>
          <p:cNvPicPr>
            <a:picLocks noChangeAspect="1"/>
          </p:cNvPicPr>
          <p:nvPr/>
        </p:nvPicPr>
        <p:blipFill>
          <a:blip r:embed="rId3"/>
          <a:stretch>
            <a:fillRect/>
          </a:stretch>
        </p:blipFill>
        <p:spPr>
          <a:xfrm>
            <a:off x="2030294" y="1134208"/>
            <a:ext cx="7069744" cy="4957051"/>
          </a:xfrm>
          <a:prstGeom prst="rect">
            <a:avLst/>
          </a:prstGeom>
        </p:spPr>
      </p:pic>
      <p:sp>
        <p:nvSpPr>
          <p:cNvPr id="4" name="TextBox 3">
            <a:extLst>
              <a:ext uri="{FF2B5EF4-FFF2-40B4-BE49-F238E27FC236}">
                <a16:creationId xmlns:a16="http://schemas.microsoft.com/office/drawing/2014/main" id="{FBE9262B-6D67-B794-364F-5EE58B721C6D}"/>
              </a:ext>
            </a:extLst>
          </p:cNvPr>
          <p:cNvSpPr txBox="1"/>
          <p:nvPr/>
        </p:nvSpPr>
        <p:spPr>
          <a:xfrm>
            <a:off x="9150590" y="5295865"/>
            <a:ext cx="2022231" cy="369332"/>
          </a:xfrm>
          <a:prstGeom prst="rect">
            <a:avLst/>
          </a:prstGeom>
          <a:noFill/>
        </p:spPr>
        <p:txBody>
          <a:bodyPr wrap="square" rtlCol="0">
            <a:spAutoFit/>
          </a:bodyPr>
          <a:lstStyle/>
          <a:p>
            <a:r>
              <a:rPr lang="en-IN" dirty="0"/>
              <a:t>Source: Wikipedia</a:t>
            </a:r>
          </a:p>
        </p:txBody>
      </p:sp>
      <p:sp>
        <p:nvSpPr>
          <p:cNvPr id="5" name="Slide Number Placeholder 4">
            <a:extLst>
              <a:ext uri="{FF2B5EF4-FFF2-40B4-BE49-F238E27FC236}">
                <a16:creationId xmlns:a16="http://schemas.microsoft.com/office/drawing/2014/main" id="{DEA7C063-903C-9D08-6D8E-28C908FC6BA7}"/>
              </a:ext>
            </a:extLst>
          </p:cNvPr>
          <p:cNvSpPr>
            <a:spLocks noGrp="1"/>
          </p:cNvSpPr>
          <p:nvPr>
            <p:ph type="sldNum" sz="quarter" idx="12"/>
          </p:nvPr>
        </p:nvSpPr>
        <p:spPr/>
        <p:txBody>
          <a:bodyPr/>
          <a:lstStyle/>
          <a:p>
            <a:fld id="{07C80FB7-381B-4500-9CA9-6613CD589959}" type="slidenum">
              <a:rPr lang="en-IN" smtClean="0"/>
              <a:t>7</a:t>
            </a:fld>
            <a:endParaRPr lang="en-IN"/>
          </a:p>
        </p:txBody>
      </p:sp>
    </p:spTree>
    <p:extLst>
      <p:ext uri="{BB962C8B-B14F-4D97-AF65-F5344CB8AC3E}">
        <p14:creationId xmlns:p14="http://schemas.microsoft.com/office/powerpoint/2010/main" val="185451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09D42-AE93-5DDA-A804-11B5FA0715E7}"/>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Map of the countries initially affected by </a:t>
            </a:r>
            <a:r>
              <a:rPr lang="en-IN"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WannaCry Ransomware</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0F35DCE-03B8-4101-B037-95697C90A693}"/>
              </a:ext>
            </a:extLst>
          </p:cNvPr>
          <p:cNvPicPr>
            <a:picLocks noGrp="1" noChangeAspect="1"/>
          </p:cNvPicPr>
          <p:nvPr>
            <p:ph idx="1"/>
          </p:nvPr>
        </p:nvPicPr>
        <p:blipFill>
          <a:blip r:embed="rId3"/>
          <a:stretch>
            <a:fillRect/>
          </a:stretch>
        </p:blipFill>
        <p:spPr>
          <a:xfrm>
            <a:off x="2602845" y="2222500"/>
            <a:ext cx="6986309" cy="3636963"/>
          </a:xfrm>
        </p:spPr>
      </p:pic>
      <p:sp>
        <p:nvSpPr>
          <p:cNvPr id="3" name="TextBox 2">
            <a:extLst>
              <a:ext uri="{FF2B5EF4-FFF2-40B4-BE49-F238E27FC236}">
                <a16:creationId xmlns:a16="http://schemas.microsoft.com/office/drawing/2014/main" id="{DBC1C8AE-60ED-32C9-9EE7-5A5B936DAF2F}"/>
              </a:ext>
            </a:extLst>
          </p:cNvPr>
          <p:cNvSpPr txBox="1"/>
          <p:nvPr/>
        </p:nvSpPr>
        <p:spPr>
          <a:xfrm>
            <a:off x="9862044" y="5200962"/>
            <a:ext cx="1916718" cy="369332"/>
          </a:xfrm>
          <a:prstGeom prst="rect">
            <a:avLst/>
          </a:prstGeom>
          <a:noFill/>
        </p:spPr>
        <p:txBody>
          <a:bodyPr wrap="square" rtlCol="0">
            <a:spAutoFit/>
          </a:bodyPr>
          <a:lstStyle/>
          <a:p>
            <a:r>
              <a:rPr lang="en-IN" dirty="0"/>
              <a:t>Source: Wikipedia</a:t>
            </a:r>
          </a:p>
        </p:txBody>
      </p:sp>
      <p:sp>
        <p:nvSpPr>
          <p:cNvPr id="4" name="Slide Number Placeholder 3">
            <a:extLst>
              <a:ext uri="{FF2B5EF4-FFF2-40B4-BE49-F238E27FC236}">
                <a16:creationId xmlns:a16="http://schemas.microsoft.com/office/drawing/2014/main" id="{B0455BC8-8889-3B0C-0156-B13EB700C02F}"/>
              </a:ext>
            </a:extLst>
          </p:cNvPr>
          <p:cNvSpPr>
            <a:spLocks noGrp="1"/>
          </p:cNvSpPr>
          <p:nvPr>
            <p:ph type="sldNum" sz="quarter" idx="12"/>
          </p:nvPr>
        </p:nvSpPr>
        <p:spPr/>
        <p:txBody>
          <a:bodyPr/>
          <a:lstStyle/>
          <a:p>
            <a:fld id="{07C80FB7-381B-4500-9CA9-6613CD589959}" type="slidenum">
              <a:rPr lang="en-IN" smtClean="0"/>
              <a:t>8</a:t>
            </a:fld>
            <a:endParaRPr lang="en-IN"/>
          </a:p>
        </p:txBody>
      </p:sp>
    </p:spTree>
    <p:extLst>
      <p:ext uri="{BB962C8B-B14F-4D97-AF65-F5344CB8AC3E}">
        <p14:creationId xmlns:p14="http://schemas.microsoft.com/office/powerpoint/2010/main" val="415181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88C7E-BD41-DBFD-DAB0-5BEE649403B4}"/>
              </a:ext>
            </a:extLst>
          </p:cNvPr>
          <p:cNvSpPr>
            <a:spLocks noGrp="1"/>
          </p:cNvSpPr>
          <p:nvPr>
            <p:ph type="title"/>
          </p:nvPr>
        </p:nvSpPr>
        <p:spPr/>
        <p:txBody>
          <a:bodyPr>
            <a:normAutofit fontScale="90000"/>
          </a:bodyPr>
          <a:lstStyle/>
          <a:p>
            <a:r>
              <a:rPr lang="en-IN" sz="4000" dirty="0">
                <a:latin typeface="Times New Roman" panose="02020603050405020304" pitchFamily="18" charset="0"/>
                <a:cs typeface="Times New Roman" panose="02020603050405020304" pitchFamily="18" charset="0"/>
              </a:rPr>
              <a:t>Why attacks succeed</a:t>
            </a:r>
            <a:br>
              <a:rPr lang="en-IN" b="1" i="0" dirty="0">
                <a:solidFill>
                  <a:srgbClr val="161616"/>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B25B179C-4035-523F-09F1-67CD2B6E5A75}"/>
              </a:ext>
            </a:extLst>
          </p:cNvPr>
          <p:cNvSpPr>
            <a:spLocks noGrp="1"/>
          </p:cNvSpPr>
          <p:nvPr>
            <p:ph idx="1"/>
          </p:nvPr>
        </p:nvSpPr>
        <p:spPr>
          <a:xfrm>
            <a:off x="633046" y="747347"/>
            <a:ext cx="10597662" cy="4902078"/>
          </a:xfrm>
        </p:spPr>
        <p:txBody>
          <a:bodyPr>
            <a:normAutofit/>
          </a:bodyPr>
          <a:lstStyle/>
          <a:p>
            <a:pPr algn="just"/>
            <a:r>
              <a:rPr lang="en-US" dirty="0">
                <a:solidFill>
                  <a:srgbClr val="161616"/>
                </a:solidFill>
                <a:latin typeface="Times New Roman" panose="02020603050405020304" pitchFamily="18" charset="0"/>
                <a:cs typeface="Times New Roman" panose="02020603050405020304" pitchFamily="18" charset="0"/>
              </a:rPr>
              <a:t>The </a:t>
            </a:r>
            <a:r>
              <a:rPr lang="en-US" b="1" dirty="0">
                <a:solidFill>
                  <a:srgbClr val="161616"/>
                </a:solidFill>
                <a:latin typeface="Times New Roman" panose="02020603050405020304" pitchFamily="18" charset="0"/>
                <a:cs typeface="Times New Roman" panose="02020603050405020304" pitchFamily="18" charset="0"/>
              </a:rPr>
              <a:t>attack surface is increased </a:t>
            </a:r>
            <a:r>
              <a:rPr lang="en-US" dirty="0">
                <a:solidFill>
                  <a:srgbClr val="161616"/>
                </a:solidFill>
                <a:latin typeface="Times New Roman" panose="02020603050405020304" pitchFamily="18" charset="0"/>
                <a:cs typeface="Times New Roman" panose="02020603050405020304" pitchFamily="18" charset="0"/>
              </a:rPr>
              <a:t>as more businesses offer more services through digital outlets.</a:t>
            </a:r>
          </a:p>
          <a:p>
            <a:pPr algn="just"/>
            <a:r>
              <a:rPr lang="en-US" dirty="0">
                <a:solidFill>
                  <a:srgbClr val="161616"/>
                </a:solidFill>
                <a:latin typeface="Times New Roman" panose="02020603050405020304" pitchFamily="18" charset="0"/>
                <a:cs typeface="Times New Roman" panose="02020603050405020304" pitchFamily="18" charset="0"/>
              </a:rPr>
              <a:t>There's a considerable ease of obtaining off-the-shelf malware, </a:t>
            </a:r>
            <a:r>
              <a:rPr lang="en-US" b="1" dirty="0">
                <a:solidFill>
                  <a:srgbClr val="161616"/>
                </a:solidFill>
                <a:latin typeface="Times New Roman" panose="02020603050405020304" pitchFamily="18" charset="0"/>
                <a:cs typeface="Times New Roman" panose="02020603050405020304" pitchFamily="18" charset="0"/>
              </a:rPr>
              <a:t>Ransomware-as-a-Service (RaaS)</a:t>
            </a:r>
          </a:p>
          <a:p>
            <a:pPr algn="just"/>
            <a:r>
              <a:rPr lang="en-US" dirty="0">
                <a:solidFill>
                  <a:srgbClr val="161616"/>
                </a:solidFill>
                <a:latin typeface="Times New Roman" panose="02020603050405020304" pitchFamily="18" charset="0"/>
                <a:cs typeface="Times New Roman" panose="02020603050405020304" pitchFamily="18" charset="0"/>
              </a:rPr>
              <a:t>The option to use </a:t>
            </a:r>
            <a:r>
              <a:rPr lang="en-US" b="1" dirty="0">
                <a:solidFill>
                  <a:srgbClr val="161616"/>
                </a:solidFill>
                <a:latin typeface="Times New Roman" panose="02020603050405020304" pitchFamily="18" charset="0"/>
                <a:cs typeface="Times New Roman" panose="02020603050405020304" pitchFamily="18" charset="0"/>
              </a:rPr>
              <a:t>cryptocurrency for blackmail payments </a:t>
            </a:r>
            <a:r>
              <a:rPr lang="en-US" dirty="0">
                <a:solidFill>
                  <a:srgbClr val="161616"/>
                </a:solidFill>
                <a:latin typeface="Times New Roman" panose="02020603050405020304" pitchFamily="18" charset="0"/>
                <a:cs typeface="Times New Roman" panose="02020603050405020304" pitchFamily="18" charset="0"/>
              </a:rPr>
              <a:t>opens new avenues for exploit</a:t>
            </a:r>
          </a:p>
          <a:p>
            <a:pPr algn="just"/>
            <a:r>
              <a:rPr lang="en-US" dirty="0">
                <a:solidFill>
                  <a:srgbClr val="161616"/>
                </a:solidFill>
                <a:latin typeface="Times New Roman" panose="02020603050405020304" pitchFamily="18" charset="0"/>
                <a:cs typeface="Times New Roman" panose="02020603050405020304" pitchFamily="18" charset="0"/>
              </a:rPr>
              <a:t>Expansion of computers and their usage in different workplaces each of which is a potential access point for malware, resulting in potential attack surface</a:t>
            </a:r>
          </a:p>
          <a:p>
            <a:pPr algn="just"/>
            <a:r>
              <a:rPr lang="en-US" b="1" dirty="0">
                <a:solidFill>
                  <a:srgbClr val="161616"/>
                </a:solidFill>
                <a:latin typeface="Times New Roman" panose="02020603050405020304" pitchFamily="18" charset="0"/>
                <a:cs typeface="Times New Roman" panose="02020603050405020304" pitchFamily="18" charset="0"/>
              </a:rPr>
              <a:t>Prevalence of old, outdated infrastructure </a:t>
            </a:r>
            <a:r>
              <a:rPr lang="en-US" dirty="0">
                <a:solidFill>
                  <a:srgbClr val="161616"/>
                </a:solidFill>
                <a:latin typeface="Times New Roman" panose="02020603050405020304" pitchFamily="18" charset="0"/>
                <a:cs typeface="Times New Roman" panose="02020603050405020304" pitchFamily="18" charset="0"/>
              </a:rPr>
              <a:t>systems and software</a:t>
            </a:r>
          </a:p>
        </p:txBody>
      </p:sp>
      <p:sp>
        <p:nvSpPr>
          <p:cNvPr id="4" name="Slide Number Placeholder 3">
            <a:extLst>
              <a:ext uri="{FF2B5EF4-FFF2-40B4-BE49-F238E27FC236}">
                <a16:creationId xmlns:a16="http://schemas.microsoft.com/office/drawing/2014/main" id="{B5245A37-54FC-7346-48DF-9B5AEFD86FA1}"/>
              </a:ext>
            </a:extLst>
          </p:cNvPr>
          <p:cNvSpPr>
            <a:spLocks noGrp="1"/>
          </p:cNvSpPr>
          <p:nvPr>
            <p:ph type="sldNum" sz="quarter" idx="12"/>
          </p:nvPr>
        </p:nvSpPr>
        <p:spPr/>
        <p:txBody>
          <a:bodyPr/>
          <a:lstStyle/>
          <a:p>
            <a:fld id="{07C80FB7-381B-4500-9CA9-6613CD589959}" type="slidenum">
              <a:rPr lang="en-IN" smtClean="0"/>
              <a:t>9</a:t>
            </a:fld>
            <a:endParaRPr lang="en-IN"/>
          </a:p>
        </p:txBody>
      </p:sp>
    </p:spTree>
    <p:extLst>
      <p:ext uri="{BB962C8B-B14F-4D97-AF65-F5344CB8AC3E}">
        <p14:creationId xmlns:p14="http://schemas.microsoft.com/office/powerpoint/2010/main" val="29652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B4446-AA3C-A728-73DF-206ACC130349}"/>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Why attacks succeed cont..</a:t>
            </a:r>
          </a:p>
        </p:txBody>
      </p:sp>
      <p:sp>
        <p:nvSpPr>
          <p:cNvPr id="3" name="Content Placeholder 2">
            <a:extLst>
              <a:ext uri="{FF2B5EF4-FFF2-40B4-BE49-F238E27FC236}">
                <a16:creationId xmlns:a16="http://schemas.microsoft.com/office/drawing/2014/main" id="{BB6CEE7A-08B1-EEA1-27DA-7E24E888475F}"/>
              </a:ext>
            </a:extLst>
          </p:cNvPr>
          <p:cNvSpPr>
            <a:spLocks noGrp="1"/>
          </p:cNvSpPr>
          <p:nvPr>
            <p:ph idx="1"/>
          </p:nvPr>
        </p:nvSpPr>
        <p:spPr>
          <a:xfrm>
            <a:off x="723900" y="1185862"/>
            <a:ext cx="10515600" cy="4486275"/>
          </a:xfrm>
        </p:spPr>
        <p:txBody>
          <a:bodyPr/>
          <a:lstStyle/>
          <a:p>
            <a:pPr algn="just"/>
            <a:r>
              <a:rPr lang="en-US" dirty="0">
                <a:solidFill>
                  <a:srgbClr val="161616"/>
                </a:solidFill>
                <a:latin typeface="Times New Roman" panose="02020603050405020304" pitchFamily="18" charset="0"/>
                <a:cs typeface="Times New Roman" panose="02020603050405020304" pitchFamily="18" charset="0"/>
              </a:rPr>
              <a:t>Poor patch-management regimens</a:t>
            </a:r>
          </a:p>
          <a:p>
            <a:pPr algn="just"/>
            <a:r>
              <a:rPr lang="en-US" dirty="0">
                <a:solidFill>
                  <a:srgbClr val="161616"/>
                </a:solidFill>
                <a:latin typeface="Times New Roman" panose="02020603050405020304" pitchFamily="18" charset="0"/>
                <a:cs typeface="Times New Roman" panose="02020603050405020304" pitchFamily="18" charset="0"/>
              </a:rPr>
              <a:t>Outdated or old operating systems that are close to or have gone beyond end-of-support dates</a:t>
            </a:r>
          </a:p>
          <a:p>
            <a:pPr algn="just"/>
            <a:r>
              <a:rPr lang="en-US" dirty="0">
                <a:solidFill>
                  <a:srgbClr val="161616"/>
                </a:solidFill>
                <a:latin typeface="Times New Roman" panose="02020603050405020304" pitchFamily="18" charset="0"/>
                <a:cs typeface="Times New Roman" panose="02020603050405020304" pitchFamily="18" charset="0"/>
              </a:rPr>
              <a:t>Lack of resources to modernize the IT footprint</a:t>
            </a:r>
          </a:p>
          <a:p>
            <a:pPr algn="just"/>
            <a:r>
              <a:rPr lang="en-US" dirty="0">
                <a:solidFill>
                  <a:srgbClr val="161616"/>
                </a:solidFill>
                <a:latin typeface="Times New Roman" panose="02020603050405020304" pitchFamily="18" charset="0"/>
                <a:cs typeface="Times New Roman" panose="02020603050405020304" pitchFamily="18" charset="0"/>
              </a:rPr>
              <a:t>Knowledge gap</a:t>
            </a:r>
          </a:p>
          <a:p>
            <a:pPr algn="just"/>
            <a:r>
              <a:rPr lang="en-US" dirty="0">
                <a:solidFill>
                  <a:srgbClr val="161616"/>
                </a:solidFill>
                <a:latin typeface="Times New Roman" panose="02020603050405020304" pitchFamily="18" charset="0"/>
                <a:cs typeface="Times New Roman" panose="02020603050405020304" pitchFamily="18" charset="0"/>
              </a:rPr>
              <a:t>Lack of skilled staff and key personnel overdependency</a:t>
            </a:r>
          </a:p>
          <a:p>
            <a:pPr algn="just"/>
            <a:r>
              <a:rPr lang="en-US" dirty="0">
                <a:solidFill>
                  <a:srgbClr val="161616"/>
                </a:solidFill>
                <a:latin typeface="Times New Roman" panose="02020603050405020304" pitchFamily="18" charset="0"/>
                <a:cs typeface="Times New Roman" panose="02020603050405020304" pitchFamily="18" charset="0"/>
              </a:rPr>
              <a:t>Poor security architecture</a:t>
            </a:r>
            <a:endParaRPr lang="en-IN" dirty="0">
              <a:solidFill>
                <a:srgbClr val="161616"/>
              </a:solidFill>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3F5F6BE6-C4E6-52F2-851C-98EC6608C497}"/>
              </a:ext>
            </a:extLst>
          </p:cNvPr>
          <p:cNvSpPr>
            <a:spLocks noGrp="1"/>
          </p:cNvSpPr>
          <p:nvPr>
            <p:ph type="sldNum" sz="quarter" idx="12"/>
          </p:nvPr>
        </p:nvSpPr>
        <p:spPr/>
        <p:txBody>
          <a:bodyPr/>
          <a:lstStyle/>
          <a:p>
            <a:fld id="{07C80FB7-381B-4500-9CA9-6613CD589959}" type="slidenum">
              <a:rPr lang="en-IN" smtClean="0"/>
              <a:t>10</a:t>
            </a:fld>
            <a:endParaRPr lang="en-IN"/>
          </a:p>
        </p:txBody>
      </p:sp>
    </p:spTree>
    <p:extLst>
      <p:ext uri="{BB962C8B-B14F-4D97-AF65-F5344CB8AC3E}">
        <p14:creationId xmlns:p14="http://schemas.microsoft.com/office/powerpoint/2010/main" val="679886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29693-943C-BFB5-0AB0-D2C7A280B586}"/>
              </a:ext>
            </a:extLst>
          </p:cNvPr>
          <p:cNvSpPr>
            <a:spLocks noGrp="1"/>
          </p:cNvSpPr>
          <p:nvPr>
            <p:ph type="title"/>
          </p:nvPr>
        </p:nvSpPr>
        <p:spPr/>
        <p:txBody>
          <a:bodyPr>
            <a:normAutofit fontScale="90000"/>
          </a:bodyPr>
          <a:lstStyle/>
          <a:p>
            <a:r>
              <a:rPr lang="en-US" sz="4000" dirty="0">
                <a:latin typeface="Times New Roman" panose="02020603050405020304" pitchFamily="18" charset="0"/>
                <a:cs typeface="Times New Roman" panose="02020603050405020304" pitchFamily="18" charset="0"/>
              </a:rPr>
              <a:t>What is the typical cost to a business?</a:t>
            </a:r>
            <a:br>
              <a:rPr lang="en-US"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3FE50D-4333-5AA2-456D-65E4B76C27F8}"/>
              </a:ext>
            </a:extLst>
          </p:cNvPr>
          <p:cNvSpPr>
            <a:spLocks noGrp="1"/>
          </p:cNvSpPr>
          <p:nvPr>
            <p:ph idx="1"/>
          </p:nvPr>
        </p:nvSpPr>
        <p:spPr>
          <a:xfrm>
            <a:off x="495300" y="791490"/>
            <a:ext cx="11057792" cy="4945858"/>
          </a:xfrm>
        </p:spPr>
        <p:txBody>
          <a:bodyPr/>
          <a:lstStyle/>
          <a:p>
            <a:pPr algn="l">
              <a:spcBef>
                <a:spcPts val="1200"/>
              </a:spcBef>
              <a:spcAft>
                <a:spcPts val="1200"/>
              </a:spcAft>
              <a:buFont typeface="Arial" panose="020B0604020202020204" pitchFamily="34" charset="0"/>
              <a:buChar char="•"/>
            </a:pPr>
            <a:r>
              <a:rPr lang="en-US" dirty="0">
                <a:solidFill>
                  <a:srgbClr val="161616"/>
                </a:solidFill>
                <a:latin typeface="Times New Roman" panose="02020603050405020304" pitchFamily="18" charset="0"/>
                <a:cs typeface="Times New Roman" panose="02020603050405020304" pitchFamily="18" charset="0"/>
              </a:rPr>
              <a:t>Loss of data access</a:t>
            </a:r>
          </a:p>
          <a:p>
            <a:pPr algn="l">
              <a:spcBef>
                <a:spcPts val="1200"/>
              </a:spcBef>
              <a:spcAft>
                <a:spcPts val="1200"/>
              </a:spcAft>
              <a:buFont typeface="Arial" panose="020B0604020202020204" pitchFamily="34" charset="0"/>
              <a:buChar char="•"/>
            </a:pPr>
            <a:r>
              <a:rPr lang="en-US" dirty="0">
                <a:solidFill>
                  <a:srgbClr val="161616"/>
                </a:solidFill>
                <a:latin typeface="Times New Roman" panose="02020603050405020304" pitchFamily="18" charset="0"/>
                <a:cs typeface="Times New Roman" panose="02020603050405020304" pitchFamily="18" charset="0"/>
              </a:rPr>
              <a:t>Business operation disruption</a:t>
            </a:r>
          </a:p>
          <a:p>
            <a:pPr algn="l">
              <a:spcBef>
                <a:spcPts val="1200"/>
              </a:spcBef>
              <a:spcAft>
                <a:spcPts val="1200"/>
              </a:spcAft>
              <a:buFont typeface="Arial" panose="020B0604020202020204" pitchFamily="34" charset="0"/>
              <a:buChar char="•"/>
            </a:pPr>
            <a:r>
              <a:rPr lang="en-US" dirty="0">
                <a:solidFill>
                  <a:srgbClr val="161616"/>
                </a:solidFill>
                <a:latin typeface="Times New Roman" panose="02020603050405020304" pitchFamily="18" charset="0"/>
                <a:cs typeface="Times New Roman" panose="02020603050405020304" pitchFamily="18" charset="0"/>
              </a:rPr>
              <a:t>Financial loss</a:t>
            </a:r>
          </a:p>
          <a:p>
            <a:pPr algn="l">
              <a:spcBef>
                <a:spcPts val="1200"/>
              </a:spcBef>
              <a:spcAft>
                <a:spcPts val="1200"/>
              </a:spcAft>
              <a:buFont typeface="Arial" panose="020B0604020202020204" pitchFamily="34" charset="0"/>
              <a:buChar char="•"/>
            </a:pPr>
            <a:r>
              <a:rPr lang="en-US" dirty="0">
                <a:solidFill>
                  <a:srgbClr val="161616"/>
                </a:solidFill>
                <a:latin typeface="Times New Roman" panose="02020603050405020304" pitchFamily="18" charset="0"/>
                <a:cs typeface="Times New Roman" panose="02020603050405020304" pitchFamily="18" charset="0"/>
              </a:rPr>
              <a:t>Intellectual property theft</a:t>
            </a:r>
          </a:p>
          <a:p>
            <a:pPr algn="l">
              <a:spcBef>
                <a:spcPts val="1200"/>
              </a:spcBef>
              <a:spcAft>
                <a:spcPts val="1200"/>
              </a:spcAft>
              <a:buFont typeface="Arial" panose="020B0604020202020204" pitchFamily="34" charset="0"/>
              <a:buChar char="•"/>
            </a:pPr>
            <a:r>
              <a:rPr lang="en-US" dirty="0">
                <a:solidFill>
                  <a:srgbClr val="161616"/>
                </a:solidFill>
                <a:latin typeface="Times New Roman" panose="02020603050405020304" pitchFamily="18" charset="0"/>
                <a:cs typeface="Times New Roman" panose="02020603050405020304" pitchFamily="18" charset="0"/>
              </a:rPr>
              <a:t>Compromised customer trust and a tarnished reputation</a:t>
            </a:r>
          </a:p>
          <a:p>
            <a:endParaRPr lang="en-IN" dirty="0"/>
          </a:p>
        </p:txBody>
      </p:sp>
      <p:pic>
        <p:nvPicPr>
          <p:cNvPr id="6" name="Picture 5">
            <a:extLst>
              <a:ext uri="{FF2B5EF4-FFF2-40B4-BE49-F238E27FC236}">
                <a16:creationId xmlns:a16="http://schemas.microsoft.com/office/drawing/2014/main" id="{1AB5C59E-BBC4-CABE-0CD6-75B50700D678}"/>
              </a:ext>
            </a:extLst>
          </p:cNvPr>
          <p:cNvPicPr>
            <a:picLocks noChangeAspect="1"/>
          </p:cNvPicPr>
          <p:nvPr/>
        </p:nvPicPr>
        <p:blipFill>
          <a:blip r:embed="rId2"/>
          <a:stretch>
            <a:fillRect/>
          </a:stretch>
        </p:blipFill>
        <p:spPr>
          <a:xfrm>
            <a:off x="5178670" y="1027593"/>
            <a:ext cx="6139291" cy="2823253"/>
          </a:xfrm>
          <a:prstGeom prst="rect">
            <a:avLst/>
          </a:prstGeom>
        </p:spPr>
      </p:pic>
      <p:sp>
        <p:nvSpPr>
          <p:cNvPr id="4" name="Slide Number Placeholder 3">
            <a:extLst>
              <a:ext uri="{FF2B5EF4-FFF2-40B4-BE49-F238E27FC236}">
                <a16:creationId xmlns:a16="http://schemas.microsoft.com/office/drawing/2014/main" id="{6FC62D43-2B11-22CE-45E0-4CF8F6FAA275}"/>
              </a:ext>
            </a:extLst>
          </p:cNvPr>
          <p:cNvSpPr>
            <a:spLocks noGrp="1"/>
          </p:cNvSpPr>
          <p:nvPr>
            <p:ph type="sldNum" sz="quarter" idx="12"/>
          </p:nvPr>
        </p:nvSpPr>
        <p:spPr/>
        <p:txBody>
          <a:bodyPr/>
          <a:lstStyle/>
          <a:p>
            <a:fld id="{07C80FB7-381B-4500-9CA9-6613CD589959}" type="slidenum">
              <a:rPr lang="en-IN" smtClean="0"/>
              <a:t>11</a:t>
            </a:fld>
            <a:endParaRPr lang="en-IN"/>
          </a:p>
        </p:txBody>
      </p:sp>
    </p:spTree>
    <p:extLst>
      <p:ext uri="{BB962C8B-B14F-4D97-AF65-F5344CB8AC3E}">
        <p14:creationId xmlns:p14="http://schemas.microsoft.com/office/powerpoint/2010/main" val="249604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DE7BD-BF98-40E7-43E9-402351D6DB3D}"/>
              </a:ext>
            </a:extLst>
          </p:cNvPr>
          <p:cNvSpPr>
            <a:spLocks noGrp="1"/>
          </p:cNvSpPr>
          <p:nvPr>
            <p:ph type="title"/>
          </p:nvPr>
        </p:nvSpPr>
        <p:spPr>
          <a:xfrm>
            <a:off x="838200" y="365126"/>
            <a:ext cx="10515600" cy="971306"/>
          </a:xfrm>
        </p:spPr>
        <p:txBody>
          <a:bodyPr>
            <a:noAutofit/>
          </a:bodyPr>
          <a:lstStyle/>
          <a:p>
            <a:r>
              <a:rPr lang="en-US" sz="4000" dirty="0">
                <a:latin typeface="Times New Roman" panose="02020603050405020304" pitchFamily="18" charset="0"/>
                <a:cs typeface="Times New Roman" panose="02020603050405020304" pitchFamily="18" charset="0"/>
              </a:rPr>
              <a:t>How can you protect yourself?</a:t>
            </a:r>
            <a:br>
              <a:rPr lang="en-US"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601599-5285-D471-C22F-48F1BE7128F4}"/>
              </a:ext>
            </a:extLst>
          </p:cNvPr>
          <p:cNvSpPr>
            <a:spLocks noGrp="1"/>
          </p:cNvSpPr>
          <p:nvPr>
            <p:ph idx="1"/>
          </p:nvPr>
        </p:nvSpPr>
        <p:spPr>
          <a:xfrm>
            <a:off x="378069" y="738554"/>
            <a:ext cx="10826262" cy="4840532"/>
          </a:xfrm>
        </p:spPr>
        <p:txBody>
          <a:bodyPr>
            <a:normAutofit/>
          </a:bodyPr>
          <a:lstStyle/>
          <a:p>
            <a:pPr algn="just">
              <a:lnSpc>
                <a:spcPct val="150000"/>
              </a:lnSpc>
            </a:pPr>
            <a:r>
              <a:rPr lang="en-US" dirty="0">
                <a:solidFill>
                  <a:srgbClr val="161616"/>
                </a:solidFill>
                <a:latin typeface="Times New Roman" panose="02020603050405020304" pitchFamily="18" charset="0"/>
                <a:cs typeface="Times New Roman" panose="02020603050405020304" pitchFamily="18" charset="0"/>
              </a:rPr>
              <a:t>The best way to prevent falling victim to ransomware is to </a:t>
            </a:r>
            <a:r>
              <a:rPr lang="en-US" b="1" dirty="0">
                <a:solidFill>
                  <a:srgbClr val="161616"/>
                </a:solidFill>
                <a:latin typeface="Times New Roman" panose="02020603050405020304" pitchFamily="18" charset="0"/>
                <a:cs typeface="Times New Roman" panose="02020603050405020304" pitchFamily="18" charset="0"/>
              </a:rPr>
              <a:t>implement preventive measures </a:t>
            </a:r>
          </a:p>
          <a:p>
            <a:pPr algn="just">
              <a:lnSpc>
                <a:spcPct val="150000"/>
              </a:lnSpc>
            </a:pPr>
            <a:r>
              <a:rPr lang="en-US" b="1" dirty="0">
                <a:solidFill>
                  <a:srgbClr val="161616"/>
                </a:solidFill>
                <a:latin typeface="Times New Roman" panose="02020603050405020304" pitchFamily="18" charset="0"/>
                <a:cs typeface="Times New Roman" panose="02020603050405020304" pitchFamily="18" charset="0"/>
              </a:rPr>
              <a:t>Protect your organization from every step </a:t>
            </a:r>
            <a:r>
              <a:rPr lang="en-US" dirty="0">
                <a:solidFill>
                  <a:srgbClr val="161616"/>
                </a:solidFill>
                <a:latin typeface="Times New Roman" panose="02020603050405020304" pitchFamily="18" charset="0"/>
                <a:cs typeface="Times New Roman" panose="02020603050405020304" pitchFamily="18" charset="0"/>
              </a:rPr>
              <a:t>that attackers take to </a:t>
            </a:r>
            <a:r>
              <a:rPr lang="en-US" b="1" dirty="0">
                <a:solidFill>
                  <a:srgbClr val="161616"/>
                </a:solidFill>
                <a:latin typeface="Times New Roman" panose="02020603050405020304" pitchFamily="18" charset="0"/>
                <a:cs typeface="Times New Roman" panose="02020603050405020304" pitchFamily="18" charset="0"/>
              </a:rPr>
              <a:t>infiltrate </a:t>
            </a:r>
            <a:r>
              <a:rPr lang="en-US" dirty="0">
                <a:solidFill>
                  <a:srgbClr val="161616"/>
                </a:solidFill>
                <a:latin typeface="Times New Roman" panose="02020603050405020304" pitchFamily="18" charset="0"/>
                <a:cs typeface="Times New Roman" panose="02020603050405020304" pitchFamily="18" charset="0"/>
              </a:rPr>
              <a:t>your systems.</a:t>
            </a:r>
          </a:p>
          <a:p>
            <a:pPr algn="just">
              <a:lnSpc>
                <a:spcPct val="150000"/>
              </a:lnSpc>
            </a:pPr>
            <a:r>
              <a:rPr lang="en-US" dirty="0">
                <a:solidFill>
                  <a:srgbClr val="161616"/>
                </a:solidFill>
                <a:latin typeface="Times New Roman" panose="02020603050405020304" pitchFamily="18" charset="0"/>
                <a:cs typeface="Times New Roman" panose="02020603050405020304" pitchFamily="18" charset="0"/>
              </a:rPr>
              <a:t>CSP’s have invested in native security capabilities that make them </a:t>
            </a:r>
            <a:r>
              <a:rPr lang="en-US" b="1" dirty="0">
                <a:solidFill>
                  <a:srgbClr val="161616"/>
                </a:solidFill>
                <a:latin typeface="Times New Roman" panose="02020603050405020304" pitchFamily="18" charset="0"/>
                <a:cs typeface="Times New Roman" panose="02020603050405020304" pitchFamily="18" charset="0"/>
              </a:rPr>
              <a:t>resilient</a:t>
            </a:r>
            <a:r>
              <a:rPr lang="en-US" dirty="0">
                <a:solidFill>
                  <a:srgbClr val="161616"/>
                </a:solidFill>
                <a:latin typeface="Times New Roman" panose="02020603050405020304" pitchFamily="18" charset="0"/>
                <a:cs typeface="Times New Roman" panose="02020603050405020304" pitchFamily="18" charset="0"/>
              </a:rPr>
              <a:t> against ransomware attacks and helps organizations defeat ransomware attack techniques.</a:t>
            </a:r>
            <a:endParaRPr lang="en-IN" dirty="0">
              <a:solidFill>
                <a:srgbClr val="161616"/>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93C596B-CC7A-9039-1E04-172912C198D7}"/>
              </a:ext>
            </a:extLst>
          </p:cNvPr>
          <p:cNvSpPr>
            <a:spLocks noGrp="1"/>
          </p:cNvSpPr>
          <p:nvPr>
            <p:ph type="sldNum" sz="quarter" idx="12"/>
          </p:nvPr>
        </p:nvSpPr>
        <p:spPr/>
        <p:txBody>
          <a:bodyPr/>
          <a:lstStyle/>
          <a:p>
            <a:fld id="{07C80FB7-381B-4500-9CA9-6613CD589959}" type="slidenum">
              <a:rPr lang="en-IN" smtClean="0"/>
              <a:t>12</a:t>
            </a:fld>
            <a:endParaRPr lang="en-IN"/>
          </a:p>
        </p:txBody>
      </p:sp>
    </p:spTree>
    <p:extLst>
      <p:ext uri="{BB962C8B-B14F-4D97-AF65-F5344CB8AC3E}">
        <p14:creationId xmlns:p14="http://schemas.microsoft.com/office/powerpoint/2010/main" val="1774497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4EBA3-1A06-CDFE-60CB-523D56EB3FA2}"/>
              </a:ext>
            </a:extLst>
          </p:cNvPr>
          <p:cNvSpPr>
            <a:spLocks noGrp="1"/>
          </p:cNvSpPr>
          <p:nvPr>
            <p:ph type="title"/>
          </p:nvPr>
        </p:nvSpPr>
        <p:spPr/>
        <p:txBody>
          <a:bodyPr>
            <a:normAutofit fontScale="90000"/>
          </a:bodyPr>
          <a:lstStyle/>
          <a:p>
            <a:r>
              <a:rPr lang="en-US" sz="4000" dirty="0">
                <a:latin typeface="Times New Roman" panose="02020603050405020304" pitchFamily="18" charset="0"/>
                <a:cs typeface="Times New Roman" panose="02020603050405020304" pitchFamily="18" charset="0"/>
              </a:rPr>
              <a:t>How can you protect yourself? Cont..</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5A2510-E4BD-B5ED-938C-D203F1BF2FA6}"/>
              </a:ext>
            </a:extLst>
          </p:cNvPr>
          <p:cNvSpPr>
            <a:spLocks noGrp="1"/>
          </p:cNvSpPr>
          <p:nvPr>
            <p:ph idx="1"/>
          </p:nvPr>
        </p:nvSpPr>
        <p:spPr>
          <a:xfrm>
            <a:off x="504092" y="1597025"/>
            <a:ext cx="10849708" cy="2341929"/>
          </a:xfrm>
        </p:spPr>
        <p:txBody>
          <a:bodyPr/>
          <a:lstStyle/>
          <a:p>
            <a:pPr algn="just">
              <a:lnSpc>
                <a:spcPct val="150000"/>
              </a:lnSpc>
            </a:pPr>
            <a:r>
              <a:rPr lang="en-US" dirty="0">
                <a:solidFill>
                  <a:srgbClr val="161616"/>
                </a:solidFill>
                <a:latin typeface="Times New Roman" panose="02020603050405020304" pitchFamily="18" charset="0"/>
                <a:cs typeface="Times New Roman" panose="02020603050405020304" pitchFamily="18" charset="0"/>
              </a:rPr>
              <a:t>One of the most important steps you can take to protect your data and avoid paying a ransom is to have a </a:t>
            </a:r>
            <a:r>
              <a:rPr lang="en-US" b="1" dirty="0">
                <a:solidFill>
                  <a:srgbClr val="161616"/>
                </a:solidFill>
                <a:latin typeface="Times New Roman" panose="02020603050405020304" pitchFamily="18" charset="0"/>
                <a:cs typeface="Times New Roman" panose="02020603050405020304" pitchFamily="18" charset="0"/>
              </a:rPr>
              <a:t>reliable backup </a:t>
            </a:r>
            <a:r>
              <a:rPr lang="en-US" dirty="0">
                <a:solidFill>
                  <a:srgbClr val="161616"/>
                </a:solidFill>
                <a:latin typeface="Times New Roman" panose="02020603050405020304" pitchFamily="18" charset="0"/>
                <a:cs typeface="Times New Roman" panose="02020603050405020304" pitchFamily="18" charset="0"/>
              </a:rPr>
              <a:t>and </a:t>
            </a:r>
            <a:r>
              <a:rPr lang="en-US" b="1" dirty="0">
                <a:solidFill>
                  <a:srgbClr val="161616"/>
                </a:solidFill>
                <a:latin typeface="Times New Roman" panose="02020603050405020304" pitchFamily="18" charset="0"/>
                <a:cs typeface="Times New Roman" panose="02020603050405020304" pitchFamily="18" charset="0"/>
              </a:rPr>
              <a:t>restore plan for your business-critical information</a:t>
            </a:r>
            <a:r>
              <a:rPr lang="en-US" dirty="0">
                <a:solidFill>
                  <a:srgbClr val="161616"/>
                </a:solidFill>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F21DCBF3-BC2E-B32F-4C60-09448375CE7B}"/>
              </a:ext>
            </a:extLst>
          </p:cNvPr>
          <p:cNvSpPr>
            <a:spLocks noGrp="1"/>
          </p:cNvSpPr>
          <p:nvPr>
            <p:ph type="sldNum" sz="quarter" idx="12"/>
          </p:nvPr>
        </p:nvSpPr>
        <p:spPr/>
        <p:txBody>
          <a:bodyPr/>
          <a:lstStyle/>
          <a:p>
            <a:fld id="{07C80FB7-381B-4500-9CA9-6613CD589959}" type="slidenum">
              <a:rPr lang="en-IN" smtClean="0"/>
              <a:t>13</a:t>
            </a:fld>
            <a:endParaRPr lang="en-IN"/>
          </a:p>
        </p:txBody>
      </p:sp>
    </p:spTree>
    <p:extLst>
      <p:ext uri="{BB962C8B-B14F-4D97-AF65-F5344CB8AC3E}">
        <p14:creationId xmlns:p14="http://schemas.microsoft.com/office/powerpoint/2010/main" val="2801629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6B6E-5A01-3296-71B8-42C8AB1AC9B3}"/>
              </a:ext>
            </a:extLst>
          </p:cNvPr>
          <p:cNvSpPr>
            <a:spLocks noGrp="1"/>
          </p:cNvSpPr>
          <p:nvPr>
            <p:ph type="title"/>
          </p:nvPr>
        </p:nvSpPr>
        <p:spPr/>
        <p:txBody>
          <a:bodyPr>
            <a:normAutofit fontScale="90000"/>
          </a:bodyPr>
          <a:lstStyle/>
          <a:p>
            <a:r>
              <a:rPr lang="en-IN" sz="4000" dirty="0">
                <a:latin typeface="Times New Roman" panose="02020603050405020304" pitchFamily="18" charset="0"/>
                <a:cs typeface="Times New Roman" panose="02020603050405020304" pitchFamily="18" charset="0"/>
              </a:rPr>
              <a:t>Azure Backup</a:t>
            </a:r>
            <a:br>
              <a:rPr lang="en-IN" b="1" i="0" dirty="0">
                <a:solidFill>
                  <a:srgbClr val="161616"/>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9B0EB6FB-A6EF-9F01-CD27-CDA9ED944C32}"/>
              </a:ext>
            </a:extLst>
          </p:cNvPr>
          <p:cNvSpPr>
            <a:spLocks noGrp="1"/>
          </p:cNvSpPr>
          <p:nvPr>
            <p:ph idx="1"/>
          </p:nvPr>
        </p:nvSpPr>
        <p:spPr>
          <a:xfrm>
            <a:off x="756138" y="1266092"/>
            <a:ext cx="10911254" cy="4910871"/>
          </a:xfrm>
        </p:spPr>
        <p:txBody>
          <a:bodyPr>
            <a:normAutofit fontScale="92500" lnSpcReduction="10000"/>
          </a:bodyPr>
          <a:lstStyle/>
          <a:p>
            <a:pPr algn="just"/>
            <a:r>
              <a:rPr lang="en-US" dirty="0">
                <a:solidFill>
                  <a:srgbClr val="161616"/>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Azure Backup </a:t>
            </a:r>
            <a:r>
              <a:rPr lang="en-US" dirty="0">
                <a:solidFill>
                  <a:srgbClr val="161616"/>
                </a:solidFill>
                <a:latin typeface="Times New Roman" panose="02020603050405020304" pitchFamily="18" charset="0"/>
                <a:cs typeface="Times New Roman" panose="02020603050405020304" pitchFamily="18" charset="0"/>
              </a:rPr>
              <a:t>provides security to your backup environment, both when your data is in transit and at rest. </a:t>
            </a:r>
          </a:p>
          <a:p>
            <a:pPr algn="just"/>
            <a:r>
              <a:rPr lang="en-US" dirty="0">
                <a:solidFill>
                  <a:srgbClr val="161616"/>
                </a:solidFill>
                <a:latin typeface="Times New Roman" panose="02020603050405020304" pitchFamily="18" charset="0"/>
                <a:cs typeface="Times New Roman" panose="02020603050405020304" pitchFamily="18" charset="0"/>
              </a:rPr>
              <a:t>With Azure Backup, you can back up:</a:t>
            </a:r>
          </a:p>
          <a:p>
            <a:pPr lvl="1" algn="just">
              <a:spcBef>
                <a:spcPts val="1200"/>
              </a:spcBef>
              <a:spcAft>
                <a:spcPts val="1200"/>
              </a:spcAft>
            </a:pPr>
            <a:r>
              <a:rPr lang="en-US" sz="2800" dirty="0">
                <a:solidFill>
                  <a:srgbClr val="161616"/>
                </a:solidFill>
                <a:latin typeface="Times New Roman" panose="02020603050405020304" pitchFamily="18" charset="0"/>
                <a:cs typeface="Times New Roman" panose="02020603050405020304" pitchFamily="18" charset="0"/>
              </a:rPr>
              <a:t>On-premises files, folders, and system state</a:t>
            </a:r>
          </a:p>
          <a:p>
            <a:pPr lvl="1" algn="just">
              <a:spcBef>
                <a:spcPts val="1200"/>
              </a:spcBef>
              <a:spcAft>
                <a:spcPts val="1200"/>
              </a:spcAft>
            </a:pPr>
            <a:r>
              <a:rPr lang="en-US" sz="2800" dirty="0">
                <a:solidFill>
                  <a:srgbClr val="161616"/>
                </a:solidFill>
                <a:latin typeface="Times New Roman" panose="02020603050405020304" pitchFamily="18" charset="0"/>
                <a:cs typeface="Times New Roman" panose="02020603050405020304" pitchFamily="18" charset="0"/>
              </a:rPr>
              <a:t>Entire Windows/Linux VMs</a:t>
            </a:r>
          </a:p>
          <a:p>
            <a:pPr lvl="1" algn="just">
              <a:spcBef>
                <a:spcPts val="1200"/>
              </a:spcBef>
              <a:spcAft>
                <a:spcPts val="1200"/>
              </a:spcAft>
            </a:pPr>
            <a:r>
              <a:rPr lang="en-US" sz="2800" dirty="0">
                <a:solidFill>
                  <a:srgbClr val="161616"/>
                </a:solidFill>
                <a:latin typeface="Times New Roman" panose="02020603050405020304" pitchFamily="18" charset="0"/>
                <a:cs typeface="Times New Roman" panose="02020603050405020304" pitchFamily="18" charset="0"/>
              </a:rPr>
              <a:t>Azure Managed Disks</a:t>
            </a:r>
          </a:p>
          <a:p>
            <a:pPr lvl="1" algn="just">
              <a:spcBef>
                <a:spcPts val="1200"/>
              </a:spcBef>
              <a:spcAft>
                <a:spcPts val="1200"/>
              </a:spcAft>
            </a:pPr>
            <a:r>
              <a:rPr lang="en-US" sz="2800" dirty="0">
                <a:solidFill>
                  <a:srgbClr val="161616"/>
                </a:solidFill>
                <a:latin typeface="Times New Roman" panose="02020603050405020304" pitchFamily="18" charset="0"/>
                <a:cs typeface="Times New Roman" panose="02020603050405020304" pitchFamily="18" charset="0"/>
              </a:rPr>
              <a:t>Azure file shares to a storage account</a:t>
            </a:r>
          </a:p>
          <a:p>
            <a:pPr lvl="1" algn="just">
              <a:spcBef>
                <a:spcPts val="1200"/>
              </a:spcBef>
              <a:spcAft>
                <a:spcPts val="1200"/>
              </a:spcAft>
            </a:pPr>
            <a:r>
              <a:rPr lang="en-US" sz="2800" dirty="0">
                <a:solidFill>
                  <a:srgbClr val="161616"/>
                </a:solidFill>
                <a:latin typeface="Times New Roman" panose="02020603050405020304" pitchFamily="18" charset="0"/>
                <a:cs typeface="Times New Roman" panose="02020603050405020304" pitchFamily="18" charset="0"/>
              </a:rPr>
              <a:t>SQL Server databases running on Azure VMs</a:t>
            </a:r>
          </a:p>
          <a:p>
            <a:pPr lvl="1">
              <a:spcBef>
                <a:spcPts val="1200"/>
              </a:spcBef>
              <a:spcAft>
                <a:spcPts val="1200"/>
              </a:spcAft>
            </a:pPr>
            <a:endParaRPr lang="en-US" b="0" i="0" dirty="0">
              <a:solidFill>
                <a:srgbClr val="161616"/>
              </a:solidFill>
              <a:effectLst/>
              <a:latin typeface="Segoe UI" panose="020B0502040204020203" pitchFamily="34" charset="0"/>
            </a:endParaRPr>
          </a:p>
          <a:p>
            <a:endParaRPr lang="en-IN" dirty="0"/>
          </a:p>
        </p:txBody>
      </p:sp>
      <p:sp>
        <p:nvSpPr>
          <p:cNvPr id="4" name="Slide Number Placeholder 3">
            <a:extLst>
              <a:ext uri="{FF2B5EF4-FFF2-40B4-BE49-F238E27FC236}">
                <a16:creationId xmlns:a16="http://schemas.microsoft.com/office/drawing/2014/main" id="{A1837DE4-A89B-4F0D-F330-F5E1CFE4A1CF}"/>
              </a:ext>
            </a:extLst>
          </p:cNvPr>
          <p:cNvSpPr>
            <a:spLocks noGrp="1"/>
          </p:cNvSpPr>
          <p:nvPr>
            <p:ph type="sldNum" sz="quarter" idx="12"/>
          </p:nvPr>
        </p:nvSpPr>
        <p:spPr/>
        <p:txBody>
          <a:bodyPr/>
          <a:lstStyle/>
          <a:p>
            <a:fld id="{07C80FB7-381B-4500-9CA9-6613CD589959}" type="slidenum">
              <a:rPr lang="en-IN" smtClean="0"/>
              <a:t>14</a:t>
            </a:fld>
            <a:endParaRPr lang="en-IN"/>
          </a:p>
        </p:txBody>
      </p:sp>
    </p:spTree>
    <p:extLst>
      <p:ext uri="{BB962C8B-B14F-4D97-AF65-F5344CB8AC3E}">
        <p14:creationId xmlns:p14="http://schemas.microsoft.com/office/powerpoint/2010/main" val="78890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68DA3-AD06-D45D-F0F7-30A2D4644268}"/>
              </a:ext>
            </a:extLst>
          </p:cNvPr>
          <p:cNvSpPr>
            <a:spLocks noGrp="1"/>
          </p:cNvSpPr>
          <p:nvPr>
            <p:ph type="title"/>
          </p:nvPr>
        </p:nvSpPr>
        <p:spPr>
          <a:xfrm>
            <a:off x="272561" y="365125"/>
            <a:ext cx="11303405" cy="1325563"/>
          </a:xfrm>
        </p:spPr>
        <p:txBody>
          <a:bodyPr/>
          <a:lstStyle/>
          <a:p>
            <a:r>
              <a:rPr lang="en-IN" sz="4000" dirty="0">
                <a:latin typeface="Times New Roman" panose="02020603050405020304" pitchFamily="18" charset="0"/>
                <a:cs typeface="Times New Roman" panose="02020603050405020304" pitchFamily="18" charset="0"/>
              </a:rPr>
              <a:t>Azure Backup demo: Business Continuity </a:t>
            </a:r>
            <a:r>
              <a:rPr lang="en-IN" sz="4000" dirty="0" err="1">
                <a:latin typeface="Times New Roman" panose="02020603050405020304" pitchFamily="18" charset="0"/>
                <a:cs typeface="Times New Roman" panose="02020603050405020304" pitchFamily="18" charset="0"/>
              </a:rPr>
              <a:t>Center</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270D512-5F75-4A4F-EAC2-6EE6EC665722}"/>
              </a:ext>
            </a:extLst>
          </p:cNvPr>
          <p:cNvSpPr>
            <a:spLocks noGrp="1"/>
          </p:cNvSpPr>
          <p:nvPr>
            <p:ph idx="1"/>
          </p:nvPr>
        </p:nvSpPr>
        <p:spPr/>
        <p:txBody>
          <a:bodyPr/>
          <a:lstStyle/>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D1CB1C9-32D7-B7C0-351D-30FB7A200EEC}"/>
                  </a:ext>
                </a:extLst>
              </p14:cNvPr>
              <p14:cNvContentPartPr/>
              <p14:nvPr/>
            </p14:nvContentPartPr>
            <p14:xfrm>
              <a:off x="2874849" y="3411540"/>
              <a:ext cx="360" cy="360"/>
            </p14:xfrm>
          </p:contentPart>
        </mc:Choice>
        <mc:Fallback xmlns="">
          <p:pic>
            <p:nvPicPr>
              <p:cNvPr id="4" name="Ink 3">
                <a:extLst>
                  <a:ext uri="{FF2B5EF4-FFF2-40B4-BE49-F238E27FC236}">
                    <a16:creationId xmlns:a16="http://schemas.microsoft.com/office/drawing/2014/main" id="{4D1CB1C9-32D7-B7C0-351D-30FB7A200EEC}"/>
                  </a:ext>
                </a:extLst>
              </p:cNvPr>
              <p:cNvPicPr/>
              <p:nvPr/>
            </p:nvPicPr>
            <p:blipFill>
              <a:blip r:embed="rId3"/>
              <a:stretch>
                <a:fillRect/>
              </a:stretch>
            </p:blipFill>
            <p:spPr>
              <a:xfrm>
                <a:off x="2868729" y="3405420"/>
                <a:ext cx="12600" cy="12600"/>
              </a:xfrm>
              <a:prstGeom prst="rect">
                <a:avLst/>
              </a:prstGeom>
            </p:spPr>
          </p:pic>
        </mc:Fallback>
      </mc:AlternateContent>
      <p:pic>
        <p:nvPicPr>
          <p:cNvPr id="6" name="Picture 5">
            <a:extLst>
              <a:ext uri="{FF2B5EF4-FFF2-40B4-BE49-F238E27FC236}">
                <a16:creationId xmlns:a16="http://schemas.microsoft.com/office/drawing/2014/main" id="{F56776DB-35C4-9F56-F2BB-2230CD21D3F8}"/>
              </a:ext>
            </a:extLst>
          </p:cNvPr>
          <p:cNvPicPr>
            <a:picLocks noChangeAspect="1"/>
          </p:cNvPicPr>
          <p:nvPr/>
        </p:nvPicPr>
        <p:blipFill>
          <a:blip r:embed="rId4"/>
          <a:stretch>
            <a:fillRect/>
          </a:stretch>
        </p:blipFill>
        <p:spPr>
          <a:xfrm>
            <a:off x="616032" y="1825626"/>
            <a:ext cx="10959935" cy="2493162"/>
          </a:xfrm>
          <a:prstGeom prst="rect">
            <a:avLst/>
          </a:prstGeom>
        </p:spPr>
      </p:pic>
      <p:sp>
        <p:nvSpPr>
          <p:cNvPr id="5" name="Slide Number Placeholder 4">
            <a:extLst>
              <a:ext uri="{FF2B5EF4-FFF2-40B4-BE49-F238E27FC236}">
                <a16:creationId xmlns:a16="http://schemas.microsoft.com/office/drawing/2014/main" id="{E90DABD2-9470-D773-3922-FE1E1E8CBC20}"/>
              </a:ext>
            </a:extLst>
          </p:cNvPr>
          <p:cNvSpPr>
            <a:spLocks noGrp="1"/>
          </p:cNvSpPr>
          <p:nvPr>
            <p:ph type="sldNum" sz="quarter" idx="12"/>
          </p:nvPr>
        </p:nvSpPr>
        <p:spPr/>
        <p:txBody>
          <a:bodyPr/>
          <a:lstStyle/>
          <a:p>
            <a:fld id="{07C80FB7-381B-4500-9CA9-6613CD589959}" type="slidenum">
              <a:rPr lang="en-IN" smtClean="0"/>
              <a:t>15</a:t>
            </a:fld>
            <a:endParaRPr lang="en-IN"/>
          </a:p>
        </p:txBody>
      </p:sp>
    </p:spTree>
    <p:extLst>
      <p:ext uri="{BB962C8B-B14F-4D97-AF65-F5344CB8AC3E}">
        <p14:creationId xmlns:p14="http://schemas.microsoft.com/office/powerpoint/2010/main" val="1142575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025B3-5335-897C-5345-0007AA76F6A7}"/>
              </a:ext>
            </a:extLst>
          </p:cNvPr>
          <p:cNvSpPr>
            <a:spLocks noGrp="1"/>
          </p:cNvSpPr>
          <p:nvPr>
            <p:ph type="title"/>
          </p:nvPr>
        </p:nvSpPr>
        <p:spPr>
          <a:xfrm>
            <a:off x="703385" y="365125"/>
            <a:ext cx="10650415" cy="1325563"/>
          </a:xfrm>
        </p:spPr>
        <p:txBody>
          <a:bodyPr>
            <a:normAutofit/>
          </a:bodyPr>
          <a:lstStyle/>
          <a:p>
            <a:r>
              <a:rPr lang="en-IN" sz="4000" dirty="0">
                <a:latin typeface="Times New Roman" panose="02020603050405020304" pitchFamily="18" charset="0"/>
                <a:cs typeface="Times New Roman" panose="02020603050405020304" pitchFamily="18" charset="0"/>
              </a:rPr>
              <a:t>Azure Backup demo:-Recover Service vault</a:t>
            </a:r>
          </a:p>
        </p:txBody>
      </p:sp>
      <p:pic>
        <p:nvPicPr>
          <p:cNvPr id="5" name="Content Placeholder 4">
            <a:extLst>
              <a:ext uri="{FF2B5EF4-FFF2-40B4-BE49-F238E27FC236}">
                <a16:creationId xmlns:a16="http://schemas.microsoft.com/office/drawing/2014/main" id="{0342932F-E2CA-D672-BD4B-4F2EC8908810}"/>
              </a:ext>
            </a:extLst>
          </p:cNvPr>
          <p:cNvPicPr>
            <a:picLocks noGrp="1" noChangeAspect="1"/>
          </p:cNvPicPr>
          <p:nvPr>
            <p:ph idx="1"/>
          </p:nvPr>
        </p:nvPicPr>
        <p:blipFill>
          <a:blip r:embed="rId2"/>
          <a:stretch>
            <a:fillRect/>
          </a:stretch>
        </p:blipFill>
        <p:spPr>
          <a:xfrm>
            <a:off x="579672" y="1872498"/>
            <a:ext cx="10650415" cy="4292760"/>
          </a:xfrm>
        </p:spPr>
      </p:pic>
      <p:grpSp>
        <p:nvGrpSpPr>
          <p:cNvPr id="14" name="Group 13">
            <a:extLst>
              <a:ext uri="{FF2B5EF4-FFF2-40B4-BE49-F238E27FC236}">
                <a16:creationId xmlns:a16="http://schemas.microsoft.com/office/drawing/2014/main" id="{FE63DE38-F41E-31A8-F3EC-1BCCB883256D}"/>
              </a:ext>
            </a:extLst>
          </p:cNvPr>
          <p:cNvGrpSpPr/>
          <p:nvPr/>
        </p:nvGrpSpPr>
        <p:grpSpPr>
          <a:xfrm>
            <a:off x="8150289" y="4527540"/>
            <a:ext cx="1340280" cy="409320"/>
            <a:chOff x="8150289" y="4527540"/>
            <a:chExt cx="1340280" cy="409320"/>
          </a:xfrm>
        </p:grpSpPr>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E25AC62C-8105-30CB-106C-6E72B6517022}"/>
                    </a:ext>
                  </a:extLst>
                </p14:cNvPr>
                <p14:cNvContentPartPr/>
                <p14:nvPr/>
              </p14:nvContentPartPr>
              <p14:xfrm>
                <a:off x="8150289" y="4527540"/>
                <a:ext cx="1296360" cy="27000"/>
              </p14:xfrm>
            </p:contentPart>
          </mc:Choice>
          <mc:Fallback xmlns="">
            <p:pic>
              <p:nvPicPr>
                <p:cNvPr id="8" name="Ink 7">
                  <a:extLst>
                    <a:ext uri="{FF2B5EF4-FFF2-40B4-BE49-F238E27FC236}">
                      <a16:creationId xmlns:a16="http://schemas.microsoft.com/office/drawing/2014/main" id="{E25AC62C-8105-30CB-106C-6E72B6517022}"/>
                    </a:ext>
                  </a:extLst>
                </p:cNvPr>
                <p:cNvPicPr/>
                <p:nvPr/>
              </p:nvPicPr>
              <p:blipFill>
                <a:blip r:embed="rId4"/>
                <a:stretch>
                  <a:fillRect/>
                </a:stretch>
              </p:blipFill>
              <p:spPr>
                <a:xfrm>
                  <a:off x="8144169" y="4521420"/>
                  <a:ext cx="13086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588A00FD-3636-AFD2-15A2-F5C07C9E6F81}"/>
                    </a:ext>
                  </a:extLst>
                </p14:cNvPr>
                <p14:cNvContentPartPr/>
                <p14:nvPr/>
              </p14:nvContentPartPr>
              <p14:xfrm>
                <a:off x="8150289" y="4572180"/>
                <a:ext cx="1340280" cy="364680"/>
              </p14:xfrm>
            </p:contentPart>
          </mc:Choice>
          <mc:Fallback xmlns="">
            <p:pic>
              <p:nvPicPr>
                <p:cNvPr id="9" name="Ink 8">
                  <a:extLst>
                    <a:ext uri="{FF2B5EF4-FFF2-40B4-BE49-F238E27FC236}">
                      <a16:creationId xmlns:a16="http://schemas.microsoft.com/office/drawing/2014/main" id="{588A00FD-3636-AFD2-15A2-F5C07C9E6F81}"/>
                    </a:ext>
                  </a:extLst>
                </p:cNvPr>
                <p:cNvPicPr/>
                <p:nvPr/>
              </p:nvPicPr>
              <p:blipFill>
                <a:blip r:embed="rId6"/>
                <a:stretch>
                  <a:fillRect/>
                </a:stretch>
              </p:blipFill>
              <p:spPr>
                <a:xfrm>
                  <a:off x="8144169" y="4566060"/>
                  <a:ext cx="135252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BB39114-9758-00A1-BAA1-5612DFB8E6C1}"/>
                    </a:ext>
                  </a:extLst>
                </p14:cNvPr>
                <p14:cNvContentPartPr/>
                <p14:nvPr/>
              </p14:nvContentPartPr>
              <p14:xfrm>
                <a:off x="9433329" y="4527900"/>
                <a:ext cx="19080" cy="356760"/>
              </p14:xfrm>
            </p:contentPart>
          </mc:Choice>
          <mc:Fallback xmlns="">
            <p:pic>
              <p:nvPicPr>
                <p:cNvPr id="13" name="Ink 12">
                  <a:extLst>
                    <a:ext uri="{FF2B5EF4-FFF2-40B4-BE49-F238E27FC236}">
                      <a16:creationId xmlns:a16="http://schemas.microsoft.com/office/drawing/2014/main" id="{DBB39114-9758-00A1-BAA1-5612DFB8E6C1}"/>
                    </a:ext>
                  </a:extLst>
                </p:cNvPr>
                <p:cNvPicPr/>
                <p:nvPr/>
              </p:nvPicPr>
              <p:blipFill>
                <a:blip r:embed="rId8"/>
                <a:stretch>
                  <a:fillRect/>
                </a:stretch>
              </p:blipFill>
              <p:spPr>
                <a:xfrm>
                  <a:off x="9427209" y="4521780"/>
                  <a:ext cx="31320" cy="369000"/>
                </a:xfrm>
                <a:prstGeom prst="rect">
                  <a:avLst/>
                </a:prstGeom>
              </p:spPr>
            </p:pic>
          </mc:Fallback>
        </mc:AlternateContent>
      </p:grpSp>
      <p:sp>
        <p:nvSpPr>
          <p:cNvPr id="3" name="Slide Number Placeholder 2">
            <a:extLst>
              <a:ext uri="{FF2B5EF4-FFF2-40B4-BE49-F238E27FC236}">
                <a16:creationId xmlns:a16="http://schemas.microsoft.com/office/drawing/2014/main" id="{F816E027-2F70-7797-9178-D7E3C66ACD1D}"/>
              </a:ext>
            </a:extLst>
          </p:cNvPr>
          <p:cNvSpPr>
            <a:spLocks noGrp="1"/>
          </p:cNvSpPr>
          <p:nvPr>
            <p:ph type="sldNum" sz="quarter" idx="12"/>
          </p:nvPr>
        </p:nvSpPr>
        <p:spPr/>
        <p:txBody>
          <a:bodyPr/>
          <a:lstStyle/>
          <a:p>
            <a:fld id="{07C80FB7-381B-4500-9CA9-6613CD589959}" type="slidenum">
              <a:rPr lang="en-IN" smtClean="0"/>
              <a:t>16</a:t>
            </a:fld>
            <a:endParaRPr lang="en-IN"/>
          </a:p>
        </p:txBody>
      </p:sp>
    </p:spTree>
    <p:extLst>
      <p:ext uri="{BB962C8B-B14F-4D97-AF65-F5344CB8AC3E}">
        <p14:creationId xmlns:p14="http://schemas.microsoft.com/office/powerpoint/2010/main" val="4213240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01781-15A7-F254-032A-E8B9C9B10418}"/>
              </a:ext>
            </a:extLst>
          </p:cNvPr>
          <p:cNvSpPr>
            <a:spLocks noGrp="1"/>
          </p:cNvSpPr>
          <p:nvPr>
            <p:ph type="title"/>
          </p:nvPr>
        </p:nvSpPr>
        <p:spPr>
          <a:xfrm>
            <a:off x="457200" y="365125"/>
            <a:ext cx="10896600" cy="953721"/>
          </a:xfrm>
        </p:spPr>
        <p:txBody>
          <a:bodyPr>
            <a:normAutofit/>
          </a:bodyPr>
          <a:lstStyle/>
          <a:p>
            <a:r>
              <a:rPr lang="en-IN" sz="4000" dirty="0">
                <a:latin typeface="Times New Roman" panose="02020603050405020304" pitchFamily="18" charset="0"/>
                <a:cs typeface="Times New Roman" panose="02020603050405020304" pitchFamily="18" charset="0"/>
              </a:rPr>
              <a:t>Azure Backup demo: Backup goal</a:t>
            </a:r>
          </a:p>
        </p:txBody>
      </p:sp>
      <p:sp>
        <p:nvSpPr>
          <p:cNvPr id="3" name="Content Placeholder 2">
            <a:extLst>
              <a:ext uri="{FF2B5EF4-FFF2-40B4-BE49-F238E27FC236}">
                <a16:creationId xmlns:a16="http://schemas.microsoft.com/office/drawing/2014/main" id="{D50E689E-F5F6-A210-C11B-1CCF9FEE2D7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0657BD9-90F3-02F4-11DF-8C5C7B316290}"/>
              </a:ext>
            </a:extLst>
          </p:cNvPr>
          <p:cNvPicPr>
            <a:picLocks noChangeAspect="1"/>
          </p:cNvPicPr>
          <p:nvPr/>
        </p:nvPicPr>
        <p:blipFill>
          <a:blip r:embed="rId2"/>
          <a:stretch>
            <a:fillRect/>
          </a:stretch>
        </p:blipFill>
        <p:spPr>
          <a:xfrm>
            <a:off x="416687" y="1204546"/>
            <a:ext cx="10977625" cy="4229099"/>
          </a:xfrm>
          <a:prstGeom prst="rect">
            <a:avLst/>
          </a:prstGeom>
        </p:spPr>
      </p:pic>
      <p:sp>
        <p:nvSpPr>
          <p:cNvPr id="4" name="Slide Number Placeholder 3">
            <a:extLst>
              <a:ext uri="{FF2B5EF4-FFF2-40B4-BE49-F238E27FC236}">
                <a16:creationId xmlns:a16="http://schemas.microsoft.com/office/drawing/2014/main" id="{592DE04A-1DD8-3138-F78C-F78D73BDECA1}"/>
              </a:ext>
            </a:extLst>
          </p:cNvPr>
          <p:cNvSpPr>
            <a:spLocks noGrp="1"/>
          </p:cNvSpPr>
          <p:nvPr>
            <p:ph type="sldNum" sz="quarter" idx="12"/>
          </p:nvPr>
        </p:nvSpPr>
        <p:spPr/>
        <p:txBody>
          <a:bodyPr/>
          <a:lstStyle/>
          <a:p>
            <a:fld id="{07C80FB7-381B-4500-9CA9-6613CD589959}" type="slidenum">
              <a:rPr lang="en-IN" smtClean="0"/>
              <a:t>17</a:t>
            </a:fld>
            <a:endParaRPr lang="en-IN"/>
          </a:p>
        </p:txBody>
      </p:sp>
    </p:spTree>
    <p:extLst>
      <p:ext uri="{BB962C8B-B14F-4D97-AF65-F5344CB8AC3E}">
        <p14:creationId xmlns:p14="http://schemas.microsoft.com/office/powerpoint/2010/main" val="110575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5602D-E84C-D05A-A6B5-B997B2609544}"/>
              </a:ext>
            </a:extLst>
          </p:cNvPr>
          <p:cNvSpPr>
            <a:spLocks noGrp="1"/>
          </p:cNvSpPr>
          <p:nvPr>
            <p:ph type="title"/>
          </p:nvPr>
        </p:nvSpPr>
        <p:spPr>
          <a:xfrm>
            <a:off x="430823" y="365125"/>
            <a:ext cx="10922977" cy="1050437"/>
          </a:xfrm>
        </p:spPr>
        <p:txBody>
          <a:bodyPr>
            <a:normAutofit/>
          </a:bodyPr>
          <a:lstStyle/>
          <a:p>
            <a:r>
              <a:rPr lang="en-IN" sz="4000" dirty="0">
                <a:latin typeface="Times New Roman" panose="02020603050405020304" pitchFamily="18" charset="0"/>
                <a:cs typeface="Times New Roman" panose="02020603050405020304" pitchFamily="18" charset="0"/>
              </a:rPr>
              <a:t>Azure Backup demo: Backup Goal</a:t>
            </a:r>
          </a:p>
        </p:txBody>
      </p:sp>
      <p:pic>
        <p:nvPicPr>
          <p:cNvPr id="5" name="Content Placeholder 4">
            <a:extLst>
              <a:ext uri="{FF2B5EF4-FFF2-40B4-BE49-F238E27FC236}">
                <a16:creationId xmlns:a16="http://schemas.microsoft.com/office/drawing/2014/main" id="{51FE20D9-AEEB-5E56-B94F-2B81C4FB1F94}"/>
              </a:ext>
            </a:extLst>
          </p:cNvPr>
          <p:cNvPicPr>
            <a:picLocks noGrp="1" noChangeAspect="1"/>
          </p:cNvPicPr>
          <p:nvPr>
            <p:ph idx="1"/>
          </p:nvPr>
        </p:nvPicPr>
        <p:blipFill>
          <a:blip r:embed="rId2"/>
          <a:stretch>
            <a:fillRect/>
          </a:stretch>
        </p:blipFill>
        <p:spPr>
          <a:xfrm>
            <a:off x="738554" y="1230923"/>
            <a:ext cx="9618784" cy="4413739"/>
          </a:xfrm>
        </p:spPr>
      </p:pic>
      <p:sp>
        <p:nvSpPr>
          <p:cNvPr id="3" name="Slide Number Placeholder 2">
            <a:extLst>
              <a:ext uri="{FF2B5EF4-FFF2-40B4-BE49-F238E27FC236}">
                <a16:creationId xmlns:a16="http://schemas.microsoft.com/office/drawing/2014/main" id="{79CE4506-E8BC-D5DD-21EB-190EFFBE5994}"/>
              </a:ext>
            </a:extLst>
          </p:cNvPr>
          <p:cNvSpPr>
            <a:spLocks noGrp="1"/>
          </p:cNvSpPr>
          <p:nvPr>
            <p:ph type="sldNum" sz="quarter" idx="12"/>
          </p:nvPr>
        </p:nvSpPr>
        <p:spPr/>
        <p:txBody>
          <a:bodyPr/>
          <a:lstStyle/>
          <a:p>
            <a:fld id="{07C80FB7-381B-4500-9CA9-6613CD589959}" type="slidenum">
              <a:rPr lang="en-IN" smtClean="0"/>
              <a:t>18</a:t>
            </a:fld>
            <a:endParaRPr lang="en-IN"/>
          </a:p>
        </p:txBody>
      </p:sp>
    </p:spTree>
    <p:extLst>
      <p:ext uri="{BB962C8B-B14F-4D97-AF65-F5344CB8AC3E}">
        <p14:creationId xmlns:p14="http://schemas.microsoft.com/office/powerpoint/2010/main" val="1173181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6DF52-D738-815C-20FB-92E32F892295}"/>
              </a:ext>
            </a:extLst>
          </p:cNvPr>
          <p:cNvSpPr>
            <a:spLocks noGrp="1"/>
          </p:cNvSpPr>
          <p:nvPr>
            <p:ph type="title"/>
          </p:nvPr>
        </p:nvSpPr>
        <p:spPr>
          <a:xfrm>
            <a:off x="430823" y="365126"/>
            <a:ext cx="10922977" cy="634076"/>
          </a:xfrm>
        </p:spPr>
        <p:txBody>
          <a:bodyPr>
            <a:normAutofit fontScale="90000"/>
          </a:bodyPr>
          <a:lstStyle/>
          <a:p>
            <a:r>
              <a:rPr lang="en-IN" sz="4000" dirty="0">
                <a:latin typeface="Times New Roman" panose="02020603050405020304" pitchFamily="18" charset="0"/>
                <a:cs typeface="Times New Roman" panose="02020603050405020304" pitchFamily="18" charset="0"/>
              </a:rPr>
              <a:t>Azure Backup demo: configure Backup</a:t>
            </a:r>
          </a:p>
        </p:txBody>
      </p:sp>
      <p:sp>
        <p:nvSpPr>
          <p:cNvPr id="3" name="Content Placeholder 2">
            <a:extLst>
              <a:ext uri="{FF2B5EF4-FFF2-40B4-BE49-F238E27FC236}">
                <a16:creationId xmlns:a16="http://schemas.microsoft.com/office/drawing/2014/main" id="{CDAC78E8-9D0B-B4E8-7D2F-D3DAACF99632}"/>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85D989B9-9BA4-F0B8-6DFF-0E94EF271D78}"/>
              </a:ext>
            </a:extLst>
          </p:cNvPr>
          <p:cNvPicPr>
            <a:picLocks noChangeAspect="1"/>
          </p:cNvPicPr>
          <p:nvPr/>
        </p:nvPicPr>
        <p:blipFill>
          <a:blip r:embed="rId2"/>
          <a:stretch>
            <a:fillRect/>
          </a:stretch>
        </p:blipFill>
        <p:spPr>
          <a:xfrm>
            <a:off x="620026" y="999203"/>
            <a:ext cx="10203303" cy="4478405"/>
          </a:xfrm>
          <a:prstGeom prst="rect">
            <a:avLst/>
          </a:prstGeom>
        </p:spPr>
      </p:pic>
      <p:sp>
        <p:nvSpPr>
          <p:cNvPr id="4" name="Slide Number Placeholder 3">
            <a:extLst>
              <a:ext uri="{FF2B5EF4-FFF2-40B4-BE49-F238E27FC236}">
                <a16:creationId xmlns:a16="http://schemas.microsoft.com/office/drawing/2014/main" id="{927A382F-2ECD-88D8-732B-3B071B61E8AA}"/>
              </a:ext>
            </a:extLst>
          </p:cNvPr>
          <p:cNvSpPr>
            <a:spLocks noGrp="1"/>
          </p:cNvSpPr>
          <p:nvPr>
            <p:ph type="sldNum" sz="quarter" idx="12"/>
          </p:nvPr>
        </p:nvSpPr>
        <p:spPr/>
        <p:txBody>
          <a:bodyPr/>
          <a:lstStyle/>
          <a:p>
            <a:fld id="{07C80FB7-381B-4500-9CA9-6613CD589959}" type="slidenum">
              <a:rPr lang="en-IN" smtClean="0"/>
              <a:t>19</a:t>
            </a:fld>
            <a:endParaRPr lang="en-IN"/>
          </a:p>
        </p:txBody>
      </p:sp>
    </p:spTree>
    <p:extLst>
      <p:ext uri="{BB962C8B-B14F-4D97-AF65-F5344CB8AC3E}">
        <p14:creationId xmlns:p14="http://schemas.microsoft.com/office/powerpoint/2010/main" val="779334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10529-E6AB-D241-FD72-BC2EE0EBF811}"/>
              </a:ext>
            </a:extLst>
          </p:cNvPr>
          <p:cNvSpPr>
            <a:spLocks noGrp="1"/>
          </p:cNvSpPr>
          <p:nvPr>
            <p:ph type="title"/>
          </p:nvPr>
        </p:nvSpPr>
        <p:spPr>
          <a:xfrm>
            <a:off x="589085" y="365126"/>
            <a:ext cx="10764715" cy="540482"/>
          </a:xfrm>
        </p:spPr>
        <p:txBody>
          <a:bodyPr>
            <a:normAutofit fontScale="90000"/>
          </a:bodyPr>
          <a:lstStyle/>
          <a:p>
            <a:r>
              <a:rPr lang="en-IN" sz="4000" dirty="0">
                <a:latin typeface="Times New Roman" panose="02020603050405020304" pitchFamily="18" charset="0"/>
                <a:cs typeface="Times New Roman" panose="02020603050405020304" pitchFamily="18" charset="0"/>
              </a:rPr>
              <a:t>Azure Backup demo: Add Virtual Machine</a:t>
            </a:r>
          </a:p>
        </p:txBody>
      </p:sp>
      <p:pic>
        <p:nvPicPr>
          <p:cNvPr id="5" name="Content Placeholder 4">
            <a:extLst>
              <a:ext uri="{FF2B5EF4-FFF2-40B4-BE49-F238E27FC236}">
                <a16:creationId xmlns:a16="http://schemas.microsoft.com/office/drawing/2014/main" id="{38E08332-E738-E58C-39ED-B9AD509E8F1E}"/>
              </a:ext>
            </a:extLst>
          </p:cNvPr>
          <p:cNvPicPr>
            <a:picLocks noGrp="1" noChangeAspect="1"/>
          </p:cNvPicPr>
          <p:nvPr>
            <p:ph idx="1"/>
          </p:nvPr>
        </p:nvPicPr>
        <p:blipFill>
          <a:blip r:embed="rId2"/>
          <a:stretch>
            <a:fillRect/>
          </a:stretch>
        </p:blipFill>
        <p:spPr>
          <a:xfrm>
            <a:off x="1301262" y="905608"/>
            <a:ext cx="8238604" cy="4607169"/>
          </a:xfrm>
        </p:spPr>
      </p:pic>
      <p:sp>
        <p:nvSpPr>
          <p:cNvPr id="3" name="Slide Number Placeholder 2">
            <a:extLst>
              <a:ext uri="{FF2B5EF4-FFF2-40B4-BE49-F238E27FC236}">
                <a16:creationId xmlns:a16="http://schemas.microsoft.com/office/drawing/2014/main" id="{61107DC7-E6D3-5B71-A774-0DE2CA7384F2}"/>
              </a:ext>
            </a:extLst>
          </p:cNvPr>
          <p:cNvSpPr>
            <a:spLocks noGrp="1"/>
          </p:cNvSpPr>
          <p:nvPr>
            <p:ph type="sldNum" sz="quarter" idx="12"/>
          </p:nvPr>
        </p:nvSpPr>
        <p:spPr/>
        <p:txBody>
          <a:bodyPr/>
          <a:lstStyle/>
          <a:p>
            <a:fld id="{07C80FB7-381B-4500-9CA9-6613CD589959}" type="slidenum">
              <a:rPr lang="en-IN" smtClean="0"/>
              <a:t>20</a:t>
            </a:fld>
            <a:endParaRPr lang="en-IN"/>
          </a:p>
        </p:txBody>
      </p:sp>
    </p:spTree>
    <p:extLst>
      <p:ext uri="{BB962C8B-B14F-4D97-AF65-F5344CB8AC3E}">
        <p14:creationId xmlns:p14="http://schemas.microsoft.com/office/powerpoint/2010/main" val="2071665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A1710-4830-2BE8-C303-424A76C643A1}"/>
              </a:ext>
            </a:extLst>
          </p:cNvPr>
          <p:cNvSpPr>
            <a:spLocks noGrp="1"/>
          </p:cNvSpPr>
          <p:nvPr>
            <p:ph type="title"/>
          </p:nvPr>
        </p:nvSpPr>
        <p:spPr>
          <a:xfrm>
            <a:off x="838200" y="365126"/>
            <a:ext cx="10515600" cy="1024060"/>
          </a:xfrm>
        </p:spPr>
        <p:txBody>
          <a:bodyPr>
            <a:normAutofit fontScale="90000"/>
          </a:bodyPr>
          <a:lstStyle/>
          <a:p>
            <a:r>
              <a:rPr lang="en-IN" dirty="0">
                <a:latin typeface="Times New Roman" panose="02020603050405020304" pitchFamily="18" charset="0"/>
                <a:cs typeface="Times New Roman" panose="02020603050405020304" pitchFamily="18" charset="0"/>
              </a:rPr>
              <a:t>Validate backups</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E36F87-5302-CD30-9960-DE2CAD76B831}"/>
              </a:ext>
            </a:extLst>
          </p:cNvPr>
          <p:cNvSpPr>
            <a:spLocks noGrp="1"/>
          </p:cNvSpPr>
          <p:nvPr>
            <p:ph idx="1"/>
          </p:nvPr>
        </p:nvSpPr>
        <p:spPr>
          <a:xfrm>
            <a:off x="838200" y="1213339"/>
            <a:ext cx="10515600" cy="2523392"/>
          </a:xfrm>
        </p:spPr>
        <p:txBody>
          <a:bodyPr/>
          <a:lstStyle/>
          <a:p>
            <a:pPr algn="just"/>
            <a:r>
              <a:rPr lang="en-US" dirty="0">
                <a:solidFill>
                  <a:srgbClr val="161616"/>
                </a:solidFill>
                <a:latin typeface="Times New Roman" panose="02020603050405020304" pitchFamily="18" charset="0"/>
                <a:cs typeface="Times New Roman" panose="02020603050405020304" pitchFamily="18" charset="0"/>
              </a:rPr>
              <a:t>Validate that your backup is good as your backup is created and before you restore. </a:t>
            </a:r>
          </a:p>
          <a:p>
            <a:pPr algn="just"/>
            <a:r>
              <a:rPr lang="en-US" dirty="0">
                <a:solidFill>
                  <a:srgbClr val="161616"/>
                </a:solidFill>
                <a:latin typeface="Times New Roman" panose="02020603050405020304" pitchFamily="18" charset="0"/>
                <a:cs typeface="Times New Roman" panose="02020603050405020304" pitchFamily="18" charset="0"/>
              </a:rPr>
              <a:t>We recommend that you use a </a:t>
            </a:r>
            <a:r>
              <a:rPr lang="en-US" dirty="0">
                <a:solidFill>
                  <a:srgbClr val="161616"/>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Recovery Services vault</a:t>
            </a:r>
            <a:r>
              <a:rPr lang="en-US" dirty="0">
                <a:solidFill>
                  <a:srgbClr val="161616"/>
                </a:solidFill>
                <a:latin typeface="Times New Roman" panose="02020603050405020304" pitchFamily="18" charset="0"/>
                <a:cs typeface="Times New Roman" panose="02020603050405020304" pitchFamily="18" charset="0"/>
              </a:rPr>
              <a:t>, which is a storage entity in Azure that houses data.</a:t>
            </a:r>
            <a:endParaRPr lang="en-IN" dirty="0">
              <a:solidFill>
                <a:srgbClr val="161616"/>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182C490-CD82-2C34-7672-EE496669BE42}"/>
              </a:ext>
            </a:extLst>
          </p:cNvPr>
          <p:cNvSpPr>
            <a:spLocks noGrp="1"/>
          </p:cNvSpPr>
          <p:nvPr>
            <p:ph type="sldNum" sz="quarter" idx="12"/>
          </p:nvPr>
        </p:nvSpPr>
        <p:spPr/>
        <p:txBody>
          <a:bodyPr/>
          <a:lstStyle/>
          <a:p>
            <a:fld id="{07C80FB7-381B-4500-9CA9-6613CD589959}" type="slidenum">
              <a:rPr lang="en-IN" smtClean="0"/>
              <a:t>21</a:t>
            </a:fld>
            <a:endParaRPr lang="en-IN"/>
          </a:p>
        </p:txBody>
      </p:sp>
    </p:spTree>
    <p:extLst>
      <p:ext uri="{BB962C8B-B14F-4D97-AF65-F5344CB8AC3E}">
        <p14:creationId xmlns:p14="http://schemas.microsoft.com/office/powerpoint/2010/main" val="1591363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5A9FF-BE52-84B2-0FC8-F1A180899E05}"/>
              </a:ext>
            </a:extLst>
          </p:cNvPr>
          <p:cNvSpPr>
            <a:spLocks noGrp="1"/>
          </p:cNvSpPr>
          <p:nvPr>
            <p:ph type="title"/>
          </p:nvPr>
        </p:nvSpPr>
        <p:spPr>
          <a:xfrm>
            <a:off x="501163" y="365125"/>
            <a:ext cx="10852637" cy="1325563"/>
          </a:xfrm>
        </p:spPr>
        <p:txBody>
          <a:bodyPr>
            <a:normAutofit fontScale="90000"/>
          </a:bodyPr>
          <a:lstStyle/>
          <a:p>
            <a:r>
              <a:rPr lang="en-US" sz="4000" dirty="0">
                <a:latin typeface="Times New Roman" panose="02020603050405020304" pitchFamily="18" charset="0"/>
                <a:cs typeface="Times New Roman" panose="02020603050405020304" pitchFamily="18" charset="0"/>
              </a:rPr>
              <a:t>What to do before an attack?</a:t>
            </a:r>
            <a:br>
              <a:rPr lang="en-US" b="1" i="0" dirty="0">
                <a:solidFill>
                  <a:srgbClr val="161616"/>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6CCC538A-2C9F-2441-700E-43C06349381D}"/>
              </a:ext>
            </a:extLst>
          </p:cNvPr>
          <p:cNvSpPr>
            <a:spLocks noGrp="1"/>
          </p:cNvSpPr>
          <p:nvPr>
            <p:ph idx="1"/>
          </p:nvPr>
        </p:nvSpPr>
        <p:spPr>
          <a:xfrm>
            <a:off x="501163" y="1134208"/>
            <a:ext cx="11245360" cy="5042755"/>
          </a:xfrm>
        </p:spPr>
        <p:txBody>
          <a:bodyPr>
            <a:normAutofit/>
          </a:bodyPr>
          <a:lstStyle/>
          <a:p>
            <a:pPr marL="0" indent="0">
              <a:buNone/>
            </a:pPr>
            <a:r>
              <a:rPr lang="en-US" i="1" dirty="0">
                <a:solidFill>
                  <a:srgbClr val="161616"/>
                </a:solidFill>
                <a:effectLst/>
                <a:latin typeface="Times New Roman" panose="02020603050405020304" pitchFamily="18" charset="0"/>
                <a:cs typeface="Times New Roman" panose="02020603050405020304" pitchFamily="18" charset="0"/>
              </a:rPr>
              <a:t> Determine what is most important to you</a:t>
            </a:r>
          </a:p>
          <a:p>
            <a:pPr algn="just">
              <a:spcBef>
                <a:spcPts val="1200"/>
              </a:spcBef>
              <a:spcAft>
                <a:spcPts val="1200"/>
              </a:spcAft>
              <a:buFont typeface="Arial" panose="020B0604020202020204" pitchFamily="34" charset="0"/>
              <a:buChar char="•"/>
            </a:pPr>
            <a:r>
              <a:rPr lang="en-US" b="1" dirty="0">
                <a:solidFill>
                  <a:srgbClr val="161616"/>
                </a:solidFill>
                <a:latin typeface="Times New Roman" panose="02020603050405020304" pitchFamily="18" charset="0"/>
                <a:cs typeface="Times New Roman" panose="02020603050405020304" pitchFamily="18" charset="0"/>
              </a:rPr>
              <a:t>Identity systems </a:t>
            </a:r>
            <a:r>
              <a:rPr lang="en-US" dirty="0">
                <a:solidFill>
                  <a:srgbClr val="161616"/>
                </a:solidFill>
                <a:latin typeface="Times New Roman" panose="02020603050405020304" pitchFamily="18" charset="0"/>
                <a:cs typeface="Times New Roman" panose="02020603050405020304" pitchFamily="18" charset="0"/>
              </a:rPr>
              <a:t>– required for users to access any systems such as Active Directory, </a:t>
            </a:r>
            <a:r>
              <a:rPr lang="en-US" dirty="0">
                <a:solidFill>
                  <a:srgbClr val="161616"/>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Microsoft Entra Connect</a:t>
            </a:r>
            <a:r>
              <a:rPr lang="en-US" dirty="0">
                <a:solidFill>
                  <a:srgbClr val="161616"/>
                </a:solidFill>
                <a:latin typeface="Times New Roman" panose="02020603050405020304" pitchFamily="18" charset="0"/>
                <a:cs typeface="Times New Roman" panose="02020603050405020304" pitchFamily="18" charset="0"/>
              </a:rPr>
              <a:t>, AD domain controllers</a:t>
            </a:r>
          </a:p>
          <a:p>
            <a:pPr algn="just">
              <a:spcBef>
                <a:spcPts val="1200"/>
              </a:spcBef>
              <a:spcAft>
                <a:spcPts val="1200"/>
              </a:spcAft>
              <a:buFont typeface="Arial" panose="020B0604020202020204" pitchFamily="34" charset="0"/>
              <a:buChar char="•"/>
            </a:pPr>
            <a:r>
              <a:rPr lang="en-US" b="1" dirty="0">
                <a:solidFill>
                  <a:srgbClr val="161616"/>
                </a:solidFill>
                <a:latin typeface="Times New Roman" panose="02020603050405020304" pitchFamily="18" charset="0"/>
                <a:cs typeface="Times New Roman" panose="02020603050405020304" pitchFamily="18" charset="0"/>
              </a:rPr>
              <a:t>Human life </a:t>
            </a:r>
            <a:r>
              <a:rPr lang="en-US" dirty="0">
                <a:solidFill>
                  <a:srgbClr val="161616"/>
                </a:solidFill>
                <a:latin typeface="Times New Roman" panose="02020603050405020304" pitchFamily="18" charset="0"/>
                <a:cs typeface="Times New Roman" panose="02020603050405020304" pitchFamily="18" charset="0"/>
              </a:rPr>
              <a:t>– any system that supports human life or could put it at risk such as medical or life support systems, safety systems large machinery, chemical/biological systems, production of food or personal products, and others</a:t>
            </a:r>
          </a:p>
          <a:p>
            <a:pPr algn="just">
              <a:spcBef>
                <a:spcPts val="1200"/>
              </a:spcBef>
              <a:spcAft>
                <a:spcPts val="1200"/>
              </a:spcAft>
              <a:buFont typeface="Arial" panose="020B0604020202020204" pitchFamily="34" charset="0"/>
              <a:buChar char="•"/>
            </a:pPr>
            <a:r>
              <a:rPr lang="en-US" b="1" dirty="0">
                <a:solidFill>
                  <a:srgbClr val="161616"/>
                </a:solidFill>
                <a:latin typeface="Times New Roman" panose="02020603050405020304" pitchFamily="18" charset="0"/>
                <a:cs typeface="Times New Roman" panose="02020603050405020304" pitchFamily="18" charset="0"/>
              </a:rPr>
              <a:t>Financial systems </a:t>
            </a:r>
            <a:r>
              <a:rPr lang="en-US" dirty="0">
                <a:solidFill>
                  <a:srgbClr val="161616"/>
                </a:solidFill>
                <a:latin typeface="Times New Roman" panose="02020603050405020304" pitchFamily="18" charset="0"/>
                <a:cs typeface="Times New Roman" panose="02020603050405020304" pitchFamily="18" charset="0"/>
              </a:rPr>
              <a:t>– systems that process monetary transactions and keep the business operating, such as payment systems and related databases, financial system for quarterly reporting</a:t>
            </a:r>
          </a:p>
          <a:p>
            <a:endParaRPr lang="en-US" b="1" i="0" dirty="0">
              <a:solidFill>
                <a:srgbClr val="161616"/>
              </a:solidFill>
              <a:effectLst/>
              <a:latin typeface="Segoe UI" panose="020B0502040204020203" pitchFamily="34" charset="0"/>
            </a:endParaRPr>
          </a:p>
          <a:p>
            <a:endParaRPr lang="en-IN" dirty="0"/>
          </a:p>
        </p:txBody>
      </p:sp>
      <p:sp>
        <p:nvSpPr>
          <p:cNvPr id="4" name="Slide Number Placeholder 3">
            <a:extLst>
              <a:ext uri="{FF2B5EF4-FFF2-40B4-BE49-F238E27FC236}">
                <a16:creationId xmlns:a16="http://schemas.microsoft.com/office/drawing/2014/main" id="{AE716D26-CBBE-2E5B-2291-C4F7AB1583A0}"/>
              </a:ext>
            </a:extLst>
          </p:cNvPr>
          <p:cNvSpPr>
            <a:spLocks noGrp="1"/>
          </p:cNvSpPr>
          <p:nvPr>
            <p:ph type="sldNum" sz="quarter" idx="12"/>
          </p:nvPr>
        </p:nvSpPr>
        <p:spPr/>
        <p:txBody>
          <a:bodyPr/>
          <a:lstStyle/>
          <a:p>
            <a:fld id="{07C80FB7-381B-4500-9CA9-6613CD589959}" type="slidenum">
              <a:rPr lang="en-IN" smtClean="0"/>
              <a:t>22</a:t>
            </a:fld>
            <a:endParaRPr lang="en-IN"/>
          </a:p>
        </p:txBody>
      </p:sp>
    </p:spTree>
    <p:extLst>
      <p:ext uri="{BB962C8B-B14F-4D97-AF65-F5344CB8AC3E}">
        <p14:creationId xmlns:p14="http://schemas.microsoft.com/office/powerpoint/2010/main" val="4265221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B9563-4562-9CB8-992E-364278608543}"/>
              </a:ext>
            </a:extLst>
          </p:cNvPr>
          <p:cNvSpPr>
            <a:spLocks noGrp="1"/>
          </p:cNvSpPr>
          <p:nvPr>
            <p:ph type="title"/>
          </p:nvPr>
        </p:nvSpPr>
        <p:spPr>
          <a:xfrm>
            <a:off x="553914" y="365125"/>
            <a:ext cx="10799886" cy="1076813"/>
          </a:xfrm>
        </p:spPr>
        <p:txBody>
          <a:bodyPr>
            <a:normAutofit fontScale="90000"/>
          </a:bodyPr>
          <a:lstStyle/>
          <a:p>
            <a:r>
              <a:rPr lang="en-US" sz="4400" dirty="0">
                <a:latin typeface="Times New Roman" panose="02020603050405020304" pitchFamily="18" charset="0"/>
                <a:cs typeface="Times New Roman" panose="02020603050405020304" pitchFamily="18" charset="0"/>
              </a:rPr>
              <a:t>What to do before an attack? cont..</a:t>
            </a:r>
            <a:endParaRPr lang="en-IN" dirty="0"/>
          </a:p>
        </p:txBody>
      </p:sp>
      <p:sp>
        <p:nvSpPr>
          <p:cNvPr id="3" name="Content Placeholder 2">
            <a:extLst>
              <a:ext uri="{FF2B5EF4-FFF2-40B4-BE49-F238E27FC236}">
                <a16:creationId xmlns:a16="http://schemas.microsoft.com/office/drawing/2014/main" id="{EA812A55-C3F9-9E82-B3F1-22EBFD48EFAC}"/>
              </a:ext>
            </a:extLst>
          </p:cNvPr>
          <p:cNvSpPr>
            <a:spLocks noGrp="1"/>
          </p:cNvSpPr>
          <p:nvPr>
            <p:ph idx="1"/>
          </p:nvPr>
        </p:nvSpPr>
        <p:spPr>
          <a:xfrm>
            <a:off x="334106" y="1389184"/>
            <a:ext cx="11210193" cy="3903784"/>
          </a:xfrm>
        </p:spPr>
        <p:txBody>
          <a:bodyPr>
            <a:normAutofit/>
          </a:bodyPr>
          <a:lstStyle/>
          <a:p>
            <a:pPr algn="just">
              <a:spcBef>
                <a:spcPts val="1200"/>
              </a:spcBef>
              <a:spcAft>
                <a:spcPts val="1200"/>
              </a:spcAft>
              <a:buFont typeface="Arial" panose="020B0604020202020204" pitchFamily="34" charset="0"/>
              <a:buChar char="•"/>
            </a:pPr>
            <a:r>
              <a:rPr lang="en-US" b="1" dirty="0">
                <a:solidFill>
                  <a:srgbClr val="161616"/>
                </a:solidFill>
                <a:latin typeface="Times New Roman" panose="02020603050405020304" pitchFamily="18" charset="0"/>
                <a:cs typeface="Times New Roman" panose="02020603050405020304" pitchFamily="18" charset="0"/>
              </a:rPr>
              <a:t>Product or service enablement </a:t>
            </a:r>
            <a:r>
              <a:rPr lang="en-US" dirty="0">
                <a:solidFill>
                  <a:srgbClr val="161616"/>
                </a:solidFill>
                <a:latin typeface="Times New Roman" panose="02020603050405020304" pitchFamily="18" charset="0"/>
                <a:cs typeface="Times New Roman" panose="02020603050405020304" pitchFamily="18" charset="0"/>
              </a:rPr>
              <a:t>– any systems that are required to provide the business services or produce/deliver physical products that your customers pay you for, factory control systems, product delivery/dispatch systems.</a:t>
            </a:r>
          </a:p>
          <a:p>
            <a:pPr algn="just">
              <a:spcBef>
                <a:spcPts val="1200"/>
              </a:spcBef>
              <a:spcAft>
                <a:spcPts val="1200"/>
              </a:spcAft>
              <a:buFont typeface="Arial" panose="020B0604020202020204" pitchFamily="34" charset="0"/>
              <a:buChar char="•"/>
            </a:pPr>
            <a:r>
              <a:rPr lang="en-US" b="1" dirty="0">
                <a:solidFill>
                  <a:srgbClr val="161616"/>
                </a:solidFill>
                <a:latin typeface="Times New Roman" panose="02020603050405020304" pitchFamily="18" charset="0"/>
                <a:cs typeface="Times New Roman" panose="02020603050405020304" pitchFamily="18" charset="0"/>
              </a:rPr>
              <a:t>Security (minimum) </a:t>
            </a:r>
            <a:r>
              <a:rPr lang="en-US" dirty="0">
                <a:solidFill>
                  <a:srgbClr val="161616"/>
                </a:solidFill>
                <a:latin typeface="Times New Roman" panose="02020603050405020304" pitchFamily="18" charset="0"/>
                <a:cs typeface="Times New Roman" panose="02020603050405020304" pitchFamily="18" charset="0"/>
              </a:rPr>
              <a:t>– Prioritize the security systems required to monitor for attacks and provide minimum security services. This should be focused on ensuring that the current attacks (or easy opportunistic ones) aren't immediately able to gain (or regain) access to your restored systems</a:t>
            </a:r>
          </a:p>
          <a:p>
            <a:endParaRPr lang="en-IN" dirty="0"/>
          </a:p>
        </p:txBody>
      </p:sp>
      <p:sp>
        <p:nvSpPr>
          <p:cNvPr id="4" name="Slide Number Placeholder 3">
            <a:extLst>
              <a:ext uri="{FF2B5EF4-FFF2-40B4-BE49-F238E27FC236}">
                <a16:creationId xmlns:a16="http://schemas.microsoft.com/office/drawing/2014/main" id="{98409D49-E318-95CD-EB9B-144D34C2C2C8}"/>
              </a:ext>
            </a:extLst>
          </p:cNvPr>
          <p:cNvSpPr>
            <a:spLocks noGrp="1"/>
          </p:cNvSpPr>
          <p:nvPr>
            <p:ph type="sldNum" sz="quarter" idx="12"/>
          </p:nvPr>
        </p:nvSpPr>
        <p:spPr/>
        <p:txBody>
          <a:bodyPr/>
          <a:lstStyle/>
          <a:p>
            <a:fld id="{07C80FB7-381B-4500-9CA9-6613CD589959}" type="slidenum">
              <a:rPr lang="en-IN" smtClean="0"/>
              <a:t>23</a:t>
            </a:fld>
            <a:endParaRPr lang="en-IN"/>
          </a:p>
        </p:txBody>
      </p:sp>
    </p:spTree>
    <p:extLst>
      <p:ext uri="{BB962C8B-B14F-4D97-AF65-F5344CB8AC3E}">
        <p14:creationId xmlns:p14="http://schemas.microsoft.com/office/powerpoint/2010/main" val="1969976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1503B-1CD2-F154-0A1E-B2765B796512}"/>
              </a:ext>
            </a:extLst>
          </p:cNvPr>
          <p:cNvSpPr>
            <a:spLocks noGrp="1"/>
          </p:cNvSpPr>
          <p:nvPr>
            <p:ph type="title"/>
          </p:nvPr>
        </p:nvSpPr>
        <p:spPr>
          <a:xfrm>
            <a:off x="413238" y="378069"/>
            <a:ext cx="10940562" cy="650631"/>
          </a:xfrm>
        </p:spPr>
        <p:txBody>
          <a:bodyPr>
            <a:normAutofit fontScale="90000"/>
          </a:bodyPr>
          <a:lstStyle/>
          <a:p>
            <a:r>
              <a:rPr lang="en-US" dirty="0">
                <a:latin typeface="Times New Roman" panose="02020603050405020304" pitchFamily="18" charset="0"/>
                <a:cs typeface="Times New Roman" panose="02020603050405020304" pitchFamily="18" charset="0"/>
              </a:rPr>
              <a:t>Steps to take before an attack</a:t>
            </a:r>
            <a:br>
              <a:rPr lang="en-US" b="1" i="0" dirty="0">
                <a:solidFill>
                  <a:srgbClr val="161616"/>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3B536BCF-8BCE-C148-B91A-18B5C61A64E3}"/>
              </a:ext>
            </a:extLst>
          </p:cNvPr>
          <p:cNvSpPr>
            <a:spLocks noGrp="1"/>
          </p:cNvSpPr>
          <p:nvPr>
            <p:ph idx="1"/>
          </p:nvPr>
        </p:nvSpPr>
        <p:spPr>
          <a:xfrm>
            <a:off x="263769" y="1266092"/>
            <a:ext cx="11764108" cy="5016379"/>
          </a:xfrm>
        </p:spPr>
        <p:txBody>
          <a:bodyPr/>
          <a:lstStyle/>
          <a:p>
            <a:r>
              <a:rPr lang="en-US" dirty="0">
                <a:solidFill>
                  <a:srgbClr val="161616"/>
                </a:solidFill>
                <a:latin typeface="Times New Roman" panose="02020603050405020304" pitchFamily="18" charset="0"/>
                <a:cs typeface="Times New Roman" panose="02020603050405020304" pitchFamily="18" charset="0"/>
              </a:rPr>
              <a:t>B</a:t>
            </a:r>
            <a:r>
              <a:rPr lang="en-US" b="0" i="0" dirty="0">
                <a:solidFill>
                  <a:srgbClr val="161616"/>
                </a:solidFill>
                <a:effectLst/>
                <a:latin typeface="Times New Roman" panose="02020603050405020304" pitchFamily="18" charset="0"/>
                <a:cs typeface="Times New Roman" panose="02020603050405020304" pitchFamily="18" charset="0"/>
              </a:rPr>
              <a:t>est practices before an attack</a:t>
            </a:r>
          </a:p>
          <a:p>
            <a:endParaRPr lang="en-IN" dirty="0"/>
          </a:p>
        </p:txBody>
      </p:sp>
      <p:graphicFrame>
        <p:nvGraphicFramePr>
          <p:cNvPr id="5" name="Table 4">
            <a:extLst>
              <a:ext uri="{FF2B5EF4-FFF2-40B4-BE49-F238E27FC236}">
                <a16:creationId xmlns:a16="http://schemas.microsoft.com/office/drawing/2014/main" id="{EC24FE4C-F6A3-ED3E-5B9C-52BF4D418B11}"/>
              </a:ext>
            </a:extLst>
          </p:cNvPr>
          <p:cNvGraphicFramePr>
            <a:graphicFrameLocks noGrp="1"/>
          </p:cNvGraphicFramePr>
          <p:nvPr>
            <p:extLst>
              <p:ext uri="{D42A27DB-BD31-4B8C-83A1-F6EECF244321}">
                <p14:modId xmlns:p14="http://schemas.microsoft.com/office/powerpoint/2010/main" val="26599216"/>
              </p:ext>
            </p:extLst>
          </p:nvPr>
        </p:nvGraphicFramePr>
        <p:xfrm>
          <a:off x="14654" y="870438"/>
          <a:ext cx="11764108" cy="5117123"/>
        </p:xfrm>
        <a:graphic>
          <a:graphicData uri="http://schemas.openxmlformats.org/drawingml/2006/table">
            <a:tbl>
              <a:tblPr firstRow="1" bandRow="1">
                <a:tableStyleId>{5C22544A-7EE6-4342-B048-85BDC9FD1C3A}</a:tableStyleId>
              </a:tblPr>
              <a:tblGrid>
                <a:gridCol w="5882054">
                  <a:extLst>
                    <a:ext uri="{9D8B030D-6E8A-4147-A177-3AD203B41FA5}">
                      <a16:colId xmlns:a16="http://schemas.microsoft.com/office/drawing/2014/main" val="1715426864"/>
                    </a:ext>
                  </a:extLst>
                </a:gridCol>
                <a:gridCol w="5882054">
                  <a:extLst>
                    <a:ext uri="{9D8B030D-6E8A-4147-A177-3AD203B41FA5}">
                      <a16:colId xmlns:a16="http://schemas.microsoft.com/office/drawing/2014/main" val="3851476341"/>
                    </a:ext>
                  </a:extLst>
                </a:gridCol>
              </a:tblGrid>
              <a:tr h="1849258">
                <a:tc>
                  <a:txBody>
                    <a:bodyPr/>
                    <a:lstStyle/>
                    <a:p>
                      <a:pPr algn="just" fontAlgn="t"/>
                      <a:r>
                        <a:rPr lang="en-US" sz="2800" b="0" kern="1200" dirty="0">
                          <a:solidFill>
                            <a:schemeClr val="bg1"/>
                          </a:solidFill>
                          <a:latin typeface="Times New Roman" panose="02020603050405020304" pitchFamily="18" charset="0"/>
                          <a:ea typeface="+mn-ea"/>
                          <a:cs typeface="Times New Roman" panose="02020603050405020304" pitchFamily="18" charset="0"/>
                        </a:rPr>
                        <a:t>Identify the important systems that you need to bring back online first and immediately begin performing regular backups of those systems.</a:t>
                      </a:r>
                    </a:p>
                  </a:txBody>
                  <a:tcPr/>
                </a:tc>
                <a:tc>
                  <a:txBody>
                    <a:bodyPr/>
                    <a:lstStyle/>
                    <a:p>
                      <a:pPr algn="just" fontAlgn="t"/>
                      <a:r>
                        <a:rPr lang="en-US" sz="2800" b="0" kern="1200" dirty="0">
                          <a:solidFill>
                            <a:schemeClr val="bg1"/>
                          </a:solidFill>
                          <a:latin typeface="Times New Roman" panose="02020603050405020304" pitchFamily="18" charset="0"/>
                          <a:ea typeface="+mn-ea"/>
                          <a:cs typeface="Times New Roman" panose="02020603050405020304" pitchFamily="18" charset="0"/>
                        </a:rPr>
                        <a:t>To get back up and running as quickly as possible after an attack, determine today what is most important to you.</a:t>
                      </a:r>
                    </a:p>
                  </a:txBody>
                  <a:tcPr/>
                </a:tc>
                <a:extLst>
                  <a:ext uri="{0D108BD9-81ED-4DB2-BD59-A6C34878D82A}">
                    <a16:rowId xmlns:a16="http://schemas.microsoft.com/office/drawing/2014/main" val="3278415472"/>
                  </a:ext>
                </a:extLst>
              </a:tr>
              <a:tr h="3267865">
                <a:tc>
                  <a:txBody>
                    <a:bodyPr/>
                    <a:lstStyle/>
                    <a:p>
                      <a:pPr algn="just" fontAlgn="t"/>
                      <a:r>
                        <a:rPr lang="en-US" sz="2800" kern="1200" dirty="0">
                          <a:solidFill>
                            <a:srgbClr val="161616"/>
                          </a:solidFill>
                          <a:latin typeface="Times New Roman" panose="02020603050405020304" pitchFamily="18" charset="0"/>
                          <a:ea typeface="+mn-ea"/>
                          <a:cs typeface="Times New Roman" panose="02020603050405020304" pitchFamily="18" charset="0"/>
                        </a:rPr>
                        <a:t>Migrate your organization to the cloud.</a:t>
                      </a:r>
                      <a:br>
                        <a:rPr lang="en-US" sz="2800" kern="1200" dirty="0">
                          <a:solidFill>
                            <a:srgbClr val="161616"/>
                          </a:solidFill>
                          <a:latin typeface="Times New Roman" panose="02020603050405020304" pitchFamily="18" charset="0"/>
                          <a:ea typeface="+mn-ea"/>
                          <a:cs typeface="Times New Roman" panose="02020603050405020304" pitchFamily="18" charset="0"/>
                        </a:rPr>
                      </a:br>
                      <a:r>
                        <a:rPr lang="en-US" sz="2800" kern="1200" dirty="0">
                          <a:solidFill>
                            <a:srgbClr val="161616"/>
                          </a:solidFill>
                          <a:latin typeface="Times New Roman" panose="02020603050405020304" pitchFamily="18" charset="0"/>
                          <a:ea typeface="+mn-ea"/>
                          <a:cs typeface="Times New Roman" panose="02020603050405020304" pitchFamily="18" charset="0"/>
                        </a:rPr>
                        <a:t>Consider purchasing a </a:t>
                      </a:r>
                      <a:r>
                        <a:rPr lang="en-US" sz="2800" b="1" kern="1200" dirty="0">
                          <a:solidFill>
                            <a:srgbClr val="161616"/>
                          </a:solidFill>
                          <a:latin typeface="Times New Roman" panose="02020603050405020304" pitchFamily="18" charset="0"/>
                          <a:ea typeface="+mn-ea"/>
                          <a:cs typeface="Times New Roman" panose="02020603050405020304" pitchFamily="18" charset="0"/>
                        </a:rPr>
                        <a:t>Microsoft Unified Support</a:t>
                      </a:r>
                      <a:r>
                        <a:rPr lang="en-US" sz="2800" kern="1200" dirty="0">
                          <a:solidFill>
                            <a:srgbClr val="161616"/>
                          </a:solidFill>
                          <a:latin typeface="Times New Roman" panose="02020603050405020304" pitchFamily="18" charset="0"/>
                          <a:ea typeface="+mn-ea"/>
                          <a:cs typeface="Times New Roman" panose="02020603050405020304" pitchFamily="18" charset="0"/>
                        </a:rPr>
                        <a:t> plan or working with a Microsoft partner to help support your move to the cloud.</a:t>
                      </a:r>
                    </a:p>
                  </a:txBody>
                  <a:tcPr/>
                </a:tc>
                <a:tc>
                  <a:txBody>
                    <a:bodyPr/>
                    <a:lstStyle/>
                    <a:p>
                      <a:pPr algn="just" fontAlgn="t"/>
                      <a:r>
                        <a:rPr lang="en-US" sz="2800" kern="1200" dirty="0">
                          <a:solidFill>
                            <a:srgbClr val="161616"/>
                          </a:solidFill>
                          <a:latin typeface="Times New Roman" panose="02020603050405020304" pitchFamily="18" charset="0"/>
                          <a:ea typeface="+mn-ea"/>
                          <a:cs typeface="Times New Roman" panose="02020603050405020304" pitchFamily="18" charset="0"/>
                        </a:rPr>
                        <a:t>Reduce your on-premises exposure by moving data to cloud services with </a:t>
                      </a:r>
                      <a:r>
                        <a:rPr lang="en-US" sz="2800" b="1" kern="1200" dirty="0">
                          <a:solidFill>
                            <a:srgbClr val="161616"/>
                          </a:solidFill>
                          <a:latin typeface="Times New Roman" panose="02020603050405020304" pitchFamily="18" charset="0"/>
                          <a:ea typeface="+mn-ea"/>
                          <a:cs typeface="Times New Roman" panose="02020603050405020304" pitchFamily="18" charset="0"/>
                        </a:rPr>
                        <a:t>automatic backup </a:t>
                      </a:r>
                      <a:r>
                        <a:rPr lang="en-US" sz="2800" kern="1200" dirty="0">
                          <a:solidFill>
                            <a:srgbClr val="161616"/>
                          </a:solidFill>
                          <a:latin typeface="Times New Roman" panose="02020603050405020304" pitchFamily="18" charset="0"/>
                          <a:ea typeface="+mn-ea"/>
                          <a:cs typeface="Times New Roman" panose="02020603050405020304" pitchFamily="18" charset="0"/>
                        </a:rPr>
                        <a:t>and self-service rollback. Microsoft Azure has a robust set of tools to help you back up your business-critical systems and restore your backups faster.</a:t>
                      </a:r>
                    </a:p>
                  </a:txBody>
                  <a:tcPr/>
                </a:tc>
                <a:extLst>
                  <a:ext uri="{0D108BD9-81ED-4DB2-BD59-A6C34878D82A}">
                    <a16:rowId xmlns:a16="http://schemas.microsoft.com/office/drawing/2014/main" val="2377908095"/>
                  </a:ext>
                </a:extLst>
              </a:tr>
            </a:tbl>
          </a:graphicData>
        </a:graphic>
      </p:graphicFrame>
      <p:sp>
        <p:nvSpPr>
          <p:cNvPr id="4" name="Slide Number Placeholder 3">
            <a:extLst>
              <a:ext uri="{FF2B5EF4-FFF2-40B4-BE49-F238E27FC236}">
                <a16:creationId xmlns:a16="http://schemas.microsoft.com/office/drawing/2014/main" id="{CDDFC7FB-835C-C453-404A-023A97D60299}"/>
              </a:ext>
            </a:extLst>
          </p:cNvPr>
          <p:cNvSpPr>
            <a:spLocks noGrp="1"/>
          </p:cNvSpPr>
          <p:nvPr>
            <p:ph type="sldNum" sz="quarter" idx="12"/>
          </p:nvPr>
        </p:nvSpPr>
        <p:spPr/>
        <p:txBody>
          <a:bodyPr/>
          <a:lstStyle/>
          <a:p>
            <a:fld id="{07C80FB7-381B-4500-9CA9-6613CD589959}" type="slidenum">
              <a:rPr lang="en-IN" smtClean="0"/>
              <a:t>24</a:t>
            </a:fld>
            <a:endParaRPr lang="en-IN"/>
          </a:p>
        </p:txBody>
      </p:sp>
    </p:spTree>
    <p:extLst>
      <p:ext uri="{BB962C8B-B14F-4D97-AF65-F5344CB8AC3E}">
        <p14:creationId xmlns:p14="http://schemas.microsoft.com/office/powerpoint/2010/main" val="1417745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CB219-6240-A690-9FFA-376E6EE73F73}"/>
              </a:ext>
            </a:extLst>
          </p:cNvPr>
          <p:cNvSpPr>
            <a:spLocks noGrp="1"/>
          </p:cNvSpPr>
          <p:nvPr>
            <p:ph type="title"/>
          </p:nvPr>
        </p:nvSpPr>
        <p:spPr>
          <a:xfrm>
            <a:off x="381000" y="198071"/>
            <a:ext cx="10515600" cy="1325563"/>
          </a:xfrm>
        </p:spPr>
        <p:txBody>
          <a:bodyPr>
            <a:normAutofit fontScale="90000"/>
          </a:bodyPr>
          <a:lstStyle/>
          <a:p>
            <a:r>
              <a:rPr lang="en-US" sz="4000" dirty="0">
                <a:latin typeface="Times New Roman" panose="02020603050405020304" pitchFamily="18" charset="0"/>
                <a:cs typeface="Times New Roman" panose="02020603050405020304" pitchFamily="18" charset="0"/>
              </a:rPr>
              <a:t>What to do during an attack</a:t>
            </a:r>
            <a:br>
              <a:rPr lang="en-US" b="1" i="0" dirty="0">
                <a:solidFill>
                  <a:srgbClr val="161616"/>
                </a:solidFill>
                <a:effectLst/>
                <a:latin typeface="Segoe UI" panose="020B0502040204020203" pitchFamily="34" charset="0"/>
              </a:rPr>
            </a:br>
            <a:endParaRPr lang="en-IN" dirty="0"/>
          </a:p>
        </p:txBody>
      </p:sp>
      <p:graphicFrame>
        <p:nvGraphicFramePr>
          <p:cNvPr id="4" name="Content Placeholder 3">
            <a:extLst>
              <a:ext uri="{FF2B5EF4-FFF2-40B4-BE49-F238E27FC236}">
                <a16:creationId xmlns:a16="http://schemas.microsoft.com/office/drawing/2014/main" id="{50AFA1E5-99C1-7F05-DBEE-49F0693EB315}"/>
              </a:ext>
            </a:extLst>
          </p:cNvPr>
          <p:cNvGraphicFramePr>
            <a:graphicFrameLocks noGrp="1"/>
          </p:cNvGraphicFramePr>
          <p:nvPr>
            <p:ph idx="1"/>
            <p:extLst>
              <p:ext uri="{D42A27DB-BD31-4B8C-83A1-F6EECF244321}">
                <p14:modId xmlns:p14="http://schemas.microsoft.com/office/powerpoint/2010/main" val="2091101030"/>
              </p:ext>
            </p:extLst>
          </p:nvPr>
        </p:nvGraphicFramePr>
        <p:xfrm>
          <a:off x="121627" y="860852"/>
          <a:ext cx="11948746" cy="4876800"/>
        </p:xfrm>
        <a:graphic>
          <a:graphicData uri="http://schemas.openxmlformats.org/drawingml/2006/table">
            <a:tbl>
              <a:tblPr firstRow="1" bandRow="1">
                <a:tableStyleId>{5C22544A-7EE6-4342-B048-85BDC9FD1C3A}</a:tableStyleId>
              </a:tblPr>
              <a:tblGrid>
                <a:gridCol w="5974373">
                  <a:extLst>
                    <a:ext uri="{9D8B030D-6E8A-4147-A177-3AD203B41FA5}">
                      <a16:colId xmlns:a16="http://schemas.microsoft.com/office/drawing/2014/main" val="2318769998"/>
                    </a:ext>
                  </a:extLst>
                </a:gridCol>
                <a:gridCol w="5974373">
                  <a:extLst>
                    <a:ext uri="{9D8B030D-6E8A-4147-A177-3AD203B41FA5}">
                      <a16:colId xmlns:a16="http://schemas.microsoft.com/office/drawing/2014/main" val="811874096"/>
                    </a:ext>
                  </a:extLst>
                </a:gridCol>
              </a:tblGrid>
              <a:tr h="370840">
                <a:tc>
                  <a:txBody>
                    <a:bodyPr/>
                    <a:lstStyle/>
                    <a:p>
                      <a:pPr algn="just" fontAlgn="t"/>
                      <a:r>
                        <a:rPr lang="en-US" sz="2800" b="0" kern="1200" dirty="0">
                          <a:solidFill>
                            <a:schemeClr val="bg1"/>
                          </a:solidFill>
                          <a:latin typeface="Times New Roman" panose="02020603050405020304" pitchFamily="18" charset="0"/>
                          <a:ea typeface="+mn-ea"/>
                          <a:cs typeface="Times New Roman" panose="02020603050405020304" pitchFamily="18" charset="0"/>
                        </a:rPr>
                        <a:t>Early in the attack, engage third-party support, particularly support from threat intelligence providers, anti-malware solution providers and from the malware analysis provider.</a:t>
                      </a:r>
                    </a:p>
                  </a:txBody>
                  <a:tcPr/>
                </a:tc>
                <a:tc>
                  <a:txBody>
                    <a:bodyPr/>
                    <a:lstStyle/>
                    <a:p>
                      <a:pPr algn="just" fontAlgn="t"/>
                      <a:r>
                        <a:rPr lang="en-US" sz="2800" b="0" kern="1200" dirty="0">
                          <a:solidFill>
                            <a:schemeClr val="bg1"/>
                          </a:solidFill>
                          <a:latin typeface="Times New Roman" panose="02020603050405020304" pitchFamily="18" charset="0"/>
                          <a:ea typeface="+mn-ea"/>
                          <a:cs typeface="Times New Roman" panose="02020603050405020304" pitchFamily="18" charset="0"/>
                        </a:rPr>
                        <a:t>These contacts may be useful if the given ransomware variant has a known weakness or decryption tools are available.</a:t>
                      </a:r>
                      <a:br>
                        <a:rPr lang="en-US" sz="2800" b="0" kern="1200" dirty="0">
                          <a:solidFill>
                            <a:schemeClr val="bg1"/>
                          </a:solidFill>
                          <a:latin typeface="Times New Roman" panose="02020603050405020304" pitchFamily="18" charset="0"/>
                          <a:ea typeface="+mn-ea"/>
                          <a:cs typeface="Times New Roman" panose="02020603050405020304" pitchFamily="18" charset="0"/>
                        </a:rPr>
                      </a:br>
                      <a:r>
                        <a:rPr lang="en-US" sz="2800" b="0" kern="1200" dirty="0">
                          <a:solidFill>
                            <a:schemeClr val="bg1"/>
                          </a:solidFill>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The Microsoft Incident Response team</a:t>
                      </a:r>
                      <a:r>
                        <a:rPr lang="en-US" sz="2800" b="0" kern="1200" dirty="0">
                          <a:solidFill>
                            <a:schemeClr val="bg1"/>
                          </a:solidFill>
                          <a:latin typeface="Times New Roman" panose="02020603050405020304" pitchFamily="18" charset="0"/>
                          <a:ea typeface="+mn-ea"/>
                          <a:cs typeface="Times New Roman" panose="02020603050405020304" pitchFamily="18" charset="0"/>
                        </a:rPr>
                        <a:t> can help protect you from attacks</a:t>
                      </a:r>
                      <a:r>
                        <a:rPr lang="en-US" sz="2800" b="0" kern="1200" dirty="0">
                          <a:solidFill>
                            <a:srgbClr val="161616"/>
                          </a:solidFill>
                          <a:latin typeface="Times New Roman" panose="02020603050405020304" pitchFamily="18" charset="0"/>
                          <a:ea typeface="+mn-ea"/>
                          <a:cs typeface="Times New Roman" panose="02020603050405020304" pitchFamily="18" charset="0"/>
                        </a:rPr>
                        <a:t>. </a:t>
                      </a:r>
                      <a:br>
                        <a:rPr lang="en-US" sz="2800" b="0" kern="1200" dirty="0">
                          <a:solidFill>
                            <a:srgbClr val="161616"/>
                          </a:solidFill>
                          <a:latin typeface="Times New Roman" panose="02020603050405020304" pitchFamily="18" charset="0"/>
                          <a:ea typeface="+mn-ea"/>
                          <a:cs typeface="Times New Roman" panose="02020603050405020304" pitchFamily="18" charset="0"/>
                        </a:rPr>
                      </a:br>
                      <a:br>
                        <a:rPr lang="en-US" sz="2800" b="0" kern="1200" dirty="0">
                          <a:solidFill>
                            <a:srgbClr val="161616"/>
                          </a:solidFill>
                          <a:latin typeface="Times New Roman" panose="02020603050405020304" pitchFamily="18" charset="0"/>
                          <a:ea typeface="+mn-ea"/>
                          <a:cs typeface="Times New Roman" panose="02020603050405020304" pitchFamily="18" charset="0"/>
                        </a:rPr>
                      </a:br>
                      <a:endParaRPr lang="en-US" sz="2800" b="0" kern="1200" dirty="0">
                        <a:solidFill>
                          <a:srgbClr val="161616"/>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65724816"/>
                  </a:ext>
                </a:extLst>
              </a:tr>
              <a:tr h="370840">
                <a:tc>
                  <a:txBody>
                    <a:bodyPr/>
                    <a:lstStyle/>
                    <a:p>
                      <a:pPr algn="just" fontAlgn="t"/>
                      <a:r>
                        <a:rPr lang="en-US" sz="2800" b="0" kern="1200" dirty="0">
                          <a:solidFill>
                            <a:srgbClr val="161616"/>
                          </a:solidFill>
                          <a:latin typeface="Times New Roman" panose="02020603050405020304" pitchFamily="18" charset="0"/>
                          <a:ea typeface="+mn-ea"/>
                          <a:cs typeface="Times New Roman" panose="02020603050405020304" pitchFamily="18" charset="0"/>
                        </a:rPr>
                        <a:t>Contact your local or federal law enforcement agencies.</a:t>
                      </a:r>
                    </a:p>
                  </a:txBody>
                  <a:tcPr/>
                </a:tc>
                <a:tc>
                  <a:txBody>
                    <a:bodyPr/>
                    <a:lstStyle/>
                    <a:p>
                      <a:pPr algn="just" fontAlgn="t"/>
                      <a:r>
                        <a:rPr lang="en-US" sz="2800" b="0" kern="1200" dirty="0">
                          <a:solidFill>
                            <a:srgbClr val="161616"/>
                          </a:solidFill>
                          <a:latin typeface="Times New Roman" panose="02020603050405020304" pitchFamily="18" charset="0"/>
                          <a:ea typeface="+mn-ea"/>
                          <a:cs typeface="Times New Roman" panose="02020603050405020304" pitchFamily="18" charset="0"/>
                        </a:rPr>
                        <a:t>If you're in the United States, contact the FBI to report a ransomware breach using the </a:t>
                      </a:r>
                      <a:r>
                        <a:rPr lang="en-US" sz="2800" b="0" kern="1200" dirty="0">
                          <a:solidFill>
                            <a:srgbClr val="161616"/>
                          </a:solidFill>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IC3 Complaint Referral Form</a:t>
                      </a:r>
                      <a:r>
                        <a:rPr lang="en-US" sz="2800" b="0" kern="1200" dirty="0">
                          <a:solidFill>
                            <a:srgbClr val="161616"/>
                          </a:solidFill>
                          <a:latin typeface="Times New Roman" panose="02020603050405020304" pitchFamily="18" charset="0"/>
                          <a:ea typeface="+mn-ea"/>
                          <a:cs typeface="Times New Roman" panose="02020603050405020304" pitchFamily="18" charset="0"/>
                        </a:rPr>
                        <a:t>.</a:t>
                      </a:r>
                    </a:p>
                  </a:txBody>
                  <a:tcPr/>
                </a:tc>
                <a:extLst>
                  <a:ext uri="{0D108BD9-81ED-4DB2-BD59-A6C34878D82A}">
                    <a16:rowId xmlns:a16="http://schemas.microsoft.com/office/drawing/2014/main" val="2651227814"/>
                  </a:ext>
                </a:extLst>
              </a:tr>
            </a:tbl>
          </a:graphicData>
        </a:graphic>
      </p:graphicFrame>
      <p:sp>
        <p:nvSpPr>
          <p:cNvPr id="3" name="Slide Number Placeholder 2">
            <a:extLst>
              <a:ext uri="{FF2B5EF4-FFF2-40B4-BE49-F238E27FC236}">
                <a16:creationId xmlns:a16="http://schemas.microsoft.com/office/drawing/2014/main" id="{2FA25ED9-6762-A67F-F86E-AF8A8620B898}"/>
              </a:ext>
            </a:extLst>
          </p:cNvPr>
          <p:cNvSpPr>
            <a:spLocks noGrp="1"/>
          </p:cNvSpPr>
          <p:nvPr>
            <p:ph type="sldNum" sz="quarter" idx="12"/>
          </p:nvPr>
        </p:nvSpPr>
        <p:spPr/>
        <p:txBody>
          <a:bodyPr/>
          <a:lstStyle/>
          <a:p>
            <a:fld id="{07C80FB7-381B-4500-9CA9-6613CD589959}" type="slidenum">
              <a:rPr lang="en-IN" smtClean="0"/>
              <a:t>25</a:t>
            </a:fld>
            <a:endParaRPr lang="en-IN"/>
          </a:p>
        </p:txBody>
      </p:sp>
    </p:spTree>
    <p:extLst>
      <p:ext uri="{BB962C8B-B14F-4D97-AF65-F5344CB8AC3E}">
        <p14:creationId xmlns:p14="http://schemas.microsoft.com/office/powerpoint/2010/main" val="1553544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8C5BF-CD09-592A-6462-05A103A4E5DA}"/>
              </a:ext>
            </a:extLst>
          </p:cNvPr>
          <p:cNvSpPr>
            <a:spLocks noGrp="1"/>
          </p:cNvSpPr>
          <p:nvPr>
            <p:ph type="title"/>
          </p:nvPr>
        </p:nvSpPr>
        <p:spPr/>
        <p:txBody>
          <a:bodyPr>
            <a:normAutofit fontScale="90000"/>
          </a:bodyPr>
          <a:lstStyle/>
          <a:p>
            <a:r>
              <a:rPr lang="en-IN" sz="4000" dirty="0">
                <a:latin typeface="Times New Roman" panose="02020603050405020304" pitchFamily="18" charset="0"/>
                <a:cs typeface="Times New Roman" panose="02020603050405020304" pitchFamily="18" charset="0"/>
              </a:rPr>
              <a:t>Post attack</a:t>
            </a:r>
            <a:br>
              <a:rPr lang="en-IN" b="1" i="0" dirty="0">
                <a:solidFill>
                  <a:srgbClr val="161616"/>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C9ECE0CB-9CB5-4D58-5BB6-668688CDF67C}"/>
              </a:ext>
            </a:extLst>
          </p:cNvPr>
          <p:cNvSpPr>
            <a:spLocks noGrp="1"/>
          </p:cNvSpPr>
          <p:nvPr>
            <p:ph idx="1"/>
          </p:nvPr>
        </p:nvSpPr>
        <p:spPr>
          <a:xfrm>
            <a:off x="169984" y="687814"/>
            <a:ext cx="11444654" cy="5482372"/>
          </a:xfrm>
        </p:spPr>
        <p:txBody>
          <a:bodyPr>
            <a:normAutofit/>
          </a:bodyPr>
          <a:lstStyle/>
          <a:p>
            <a:pPr marL="0" indent="0" algn="just">
              <a:buNone/>
            </a:pPr>
            <a:r>
              <a:rPr lang="en-US" dirty="0">
                <a:solidFill>
                  <a:srgbClr val="161616"/>
                </a:solidFill>
                <a:latin typeface="Times New Roman" panose="02020603050405020304" pitchFamily="18" charset="0"/>
                <a:cs typeface="Times New Roman" panose="02020603050405020304" pitchFamily="18" charset="0"/>
              </a:rPr>
              <a:t>After a ransomware attack, take the following steps to improve your backup and restore plans as well as your security posture:</a:t>
            </a:r>
          </a:p>
          <a:p>
            <a:pPr algn="just">
              <a:spcBef>
                <a:spcPts val="1200"/>
              </a:spcBef>
              <a:spcAft>
                <a:spcPts val="1200"/>
              </a:spcAft>
            </a:pPr>
            <a:r>
              <a:rPr lang="en-US" b="1" dirty="0">
                <a:solidFill>
                  <a:srgbClr val="161616"/>
                </a:solidFill>
                <a:latin typeface="Times New Roman" panose="02020603050405020304" pitchFamily="18" charset="0"/>
                <a:cs typeface="Times New Roman" panose="02020603050405020304" pitchFamily="18" charset="0"/>
              </a:rPr>
              <a:t>Identify lessons </a:t>
            </a:r>
            <a:r>
              <a:rPr lang="en-US" dirty="0">
                <a:solidFill>
                  <a:srgbClr val="161616"/>
                </a:solidFill>
                <a:latin typeface="Times New Roman" panose="02020603050405020304" pitchFamily="18" charset="0"/>
                <a:cs typeface="Times New Roman" panose="02020603050405020304" pitchFamily="18" charset="0"/>
              </a:rPr>
              <a:t>learned where the process didn't work well </a:t>
            </a:r>
          </a:p>
          <a:p>
            <a:pPr algn="just">
              <a:spcBef>
                <a:spcPts val="1200"/>
              </a:spcBef>
              <a:spcAft>
                <a:spcPts val="1200"/>
              </a:spcAft>
            </a:pPr>
            <a:r>
              <a:rPr lang="en-US" dirty="0">
                <a:solidFill>
                  <a:srgbClr val="161616"/>
                </a:solidFill>
                <a:latin typeface="Times New Roman" panose="02020603050405020304" pitchFamily="18" charset="0"/>
                <a:cs typeface="Times New Roman" panose="02020603050405020304" pitchFamily="18" charset="0"/>
              </a:rPr>
              <a:t>Perform </a:t>
            </a:r>
            <a:r>
              <a:rPr lang="en-US" b="1" dirty="0">
                <a:solidFill>
                  <a:srgbClr val="161616"/>
                </a:solidFill>
                <a:latin typeface="Times New Roman" panose="02020603050405020304" pitchFamily="18" charset="0"/>
                <a:cs typeface="Times New Roman" panose="02020603050405020304" pitchFamily="18" charset="0"/>
              </a:rPr>
              <a:t>root cause analysis (RCA) </a:t>
            </a:r>
            <a:r>
              <a:rPr lang="en-US" dirty="0">
                <a:solidFill>
                  <a:srgbClr val="161616"/>
                </a:solidFill>
                <a:latin typeface="Times New Roman" panose="02020603050405020304" pitchFamily="18" charset="0"/>
                <a:cs typeface="Times New Roman" panose="02020603050405020304" pitchFamily="18" charset="0"/>
              </a:rPr>
              <a:t>on the biggest challenges </a:t>
            </a:r>
          </a:p>
          <a:p>
            <a:pPr algn="just">
              <a:spcBef>
                <a:spcPts val="1200"/>
              </a:spcBef>
              <a:spcAft>
                <a:spcPts val="1200"/>
              </a:spcAft>
            </a:pPr>
            <a:r>
              <a:rPr lang="en-US" dirty="0">
                <a:solidFill>
                  <a:srgbClr val="161616"/>
                </a:solidFill>
                <a:latin typeface="Times New Roman" panose="02020603050405020304" pitchFamily="18" charset="0"/>
                <a:cs typeface="Times New Roman" panose="02020603050405020304" pitchFamily="18" charset="0"/>
              </a:rPr>
              <a:t>Investigate and remediate the original breach (</a:t>
            </a:r>
            <a:r>
              <a:rPr lang="en-US" b="1" dirty="0">
                <a:solidFill>
                  <a:srgbClr val="161616"/>
                </a:solidFill>
                <a:latin typeface="Times New Roman" panose="02020603050405020304" pitchFamily="18" charset="0"/>
                <a:cs typeface="Times New Roman" panose="02020603050405020304" pitchFamily="18" charset="0"/>
              </a:rPr>
              <a:t>engage the Microsoft Incident Response team to help</a:t>
            </a:r>
            <a:r>
              <a:rPr lang="en-US" dirty="0">
                <a:solidFill>
                  <a:srgbClr val="161616"/>
                </a:solidFill>
                <a:latin typeface="Times New Roman" panose="02020603050405020304" pitchFamily="18" charset="0"/>
                <a:cs typeface="Times New Roman" panose="02020603050405020304" pitchFamily="18" charset="0"/>
              </a:rPr>
              <a:t>)</a:t>
            </a:r>
          </a:p>
          <a:p>
            <a:pPr algn="just">
              <a:spcBef>
                <a:spcPts val="1200"/>
              </a:spcBef>
              <a:spcAft>
                <a:spcPts val="1200"/>
              </a:spcAft>
            </a:pPr>
            <a:r>
              <a:rPr lang="en-US" b="1" dirty="0">
                <a:solidFill>
                  <a:srgbClr val="161616"/>
                </a:solidFill>
                <a:latin typeface="Times New Roman" panose="02020603050405020304" pitchFamily="18" charset="0"/>
                <a:cs typeface="Times New Roman" panose="02020603050405020304" pitchFamily="18" charset="0"/>
              </a:rPr>
              <a:t>Update your backup and restore strategy </a:t>
            </a:r>
            <a:r>
              <a:rPr lang="en-US" dirty="0">
                <a:solidFill>
                  <a:srgbClr val="161616"/>
                </a:solidFill>
                <a:latin typeface="Times New Roman" panose="02020603050405020304" pitchFamily="18" charset="0"/>
                <a:cs typeface="Times New Roman" panose="02020603050405020304" pitchFamily="18" charset="0"/>
              </a:rPr>
              <a:t>based on lessons learned and opportunities — prioritizing based on highest impact and quickest implementation steps first</a:t>
            </a:r>
          </a:p>
          <a:p>
            <a:endParaRPr lang="en-IN" dirty="0"/>
          </a:p>
        </p:txBody>
      </p:sp>
      <p:sp>
        <p:nvSpPr>
          <p:cNvPr id="4" name="Slide Number Placeholder 3">
            <a:extLst>
              <a:ext uri="{FF2B5EF4-FFF2-40B4-BE49-F238E27FC236}">
                <a16:creationId xmlns:a16="http://schemas.microsoft.com/office/drawing/2014/main" id="{3284711F-8510-ABBE-5A06-029833E4C9FA}"/>
              </a:ext>
            </a:extLst>
          </p:cNvPr>
          <p:cNvSpPr>
            <a:spLocks noGrp="1"/>
          </p:cNvSpPr>
          <p:nvPr>
            <p:ph type="sldNum" sz="quarter" idx="12"/>
          </p:nvPr>
        </p:nvSpPr>
        <p:spPr/>
        <p:txBody>
          <a:bodyPr/>
          <a:lstStyle/>
          <a:p>
            <a:fld id="{07C80FB7-381B-4500-9CA9-6613CD589959}" type="slidenum">
              <a:rPr lang="en-IN" smtClean="0"/>
              <a:t>26</a:t>
            </a:fld>
            <a:endParaRPr lang="en-IN"/>
          </a:p>
        </p:txBody>
      </p:sp>
    </p:spTree>
    <p:extLst>
      <p:ext uri="{BB962C8B-B14F-4D97-AF65-F5344CB8AC3E}">
        <p14:creationId xmlns:p14="http://schemas.microsoft.com/office/powerpoint/2010/main" val="148509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12185-C793-D8C7-1501-63A1299F9ED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EFE7D226-F6BC-E1CA-E8F8-155F7E233B78}"/>
              </a:ext>
            </a:extLst>
          </p:cNvPr>
          <p:cNvSpPr>
            <a:spLocks noGrp="1"/>
          </p:cNvSpPr>
          <p:nvPr>
            <p:ph idx="1"/>
          </p:nvPr>
        </p:nvSpPr>
        <p:spPr>
          <a:xfrm>
            <a:off x="642866" y="1263925"/>
            <a:ext cx="10554574" cy="3636511"/>
          </a:xfrm>
        </p:spPr>
        <p:txBody>
          <a:bodyPr/>
          <a:lstStyle/>
          <a:p>
            <a:pPr algn="just"/>
            <a:r>
              <a:rPr lang="en-IN"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https://learn.microsoft.com/en-us/azure/security/fundamentals/backup-plan-to-protect-against-ransomware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Wikipedia</a:t>
            </a:r>
          </a:p>
          <a:p>
            <a:pPr algn="just"/>
            <a:r>
              <a:rPr lang="en-IN" dirty="0">
                <a:latin typeface="Times New Roman" panose="02020603050405020304" pitchFamily="18" charset="0"/>
                <a:cs typeface="Times New Roman" panose="02020603050405020304" pitchFamily="18" charset="0"/>
              </a:rPr>
              <a:t>Azure portal</a:t>
            </a:r>
          </a:p>
          <a:p>
            <a:pPr marL="0" indent="0" algn="just">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66A56F9F-33BA-0000-91DA-1FA7D1C2FF3D}"/>
              </a:ext>
            </a:extLst>
          </p:cNvPr>
          <p:cNvSpPr>
            <a:spLocks noGrp="1"/>
          </p:cNvSpPr>
          <p:nvPr>
            <p:ph type="sldNum" sz="quarter" idx="12"/>
          </p:nvPr>
        </p:nvSpPr>
        <p:spPr/>
        <p:txBody>
          <a:bodyPr/>
          <a:lstStyle/>
          <a:p>
            <a:fld id="{07C80FB7-381B-4500-9CA9-6613CD589959}" type="slidenum">
              <a:rPr lang="en-IN" smtClean="0"/>
              <a:t>27</a:t>
            </a:fld>
            <a:endParaRPr lang="en-IN"/>
          </a:p>
        </p:txBody>
      </p:sp>
    </p:spTree>
    <p:extLst>
      <p:ext uri="{BB962C8B-B14F-4D97-AF65-F5344CB8AC3E}">
        <p14:creationId xmlns:p14="http://schemas.microsoft.com/office/powerpoint/2010/main" val="38741325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F6F06-F13D-A76A-FC93-916FAD02DEDA}"/>
              </a:ext>
            </a:extLst>
          </p:cNvPr>
          <p:cNvSpPr>
            <a:spLocks noGrp="1"/>
          </p:cNvSpPr>
          <p:nvPr>
            <p:ph type="title"/>
          </p:nvPr>
        </p:nvSpPr>
        <p:spPr/>
        <p:txBody>
          <a:bodyPr>
            <a:normAutofit fontScale="90000"/>
          </a:bodyPr>
          <a:lstStyle/>
          <a:p>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Q&amp;A</a:t>
            </a:r>
            <a:br>
              <a:rPr lang="en-IN" sz="4400" kern="1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p:sp>
        <p:nvSpPr>
          <p:cNvPr id="3" name="Content Placeholder 2">
            <a:extLst>
              <a:ext uri="{FF2B5EF4-FFF2-40B4-BE49-F238E27FC236}">
                <a16:creationId xmlns:a16="http://schemas.microsoft.com/office/drawing/2014/main" id="{F801CFCD-AA7D-95EA-560B-B2246EF805C7}"/>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3C7BAE45-90F6-A5B0-F4B4-93C303EB8850}"/>
              </a:ext>
            </a:extLst>
          </p:cNvPr>
          <p:cNvSpPr>
            <a:spLocks noGrp="1"/>
          </p:cNvSpPr>
          <p:nvPr>
            <p:ph type="sldNum" sz="quarter" idx="12"/>
          </p:nvPr>
        </p:nvSpPr>
        <p:spPr/>
        <p:txBody>
          <a:bodyPr/>
          <a:lstStyle/>
          <a:p>
            <a:fld id="{07C80FB7-381B-4500-9CA9-6613CD589959}" type="slidenum">
              <a:rPr lang="en-IN" smtClean="0"/>
              <a:t>28</a:t>
            </a:fld>
            <a:endParaRPr lang="en-IN"/>
          </a:p>
        </p:txBody>
      </p:sp>
    </p:spTree>
    <p:extLst>
      <p:ext uri="{BB962C8B-B14F-4D97-AF65-F5344CB8AC3E}">
        <p14:creationId xmlns:p14="http://schemas.microsoft.com/office/powerpoint/2010/main" val="380899637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TM04033927[[fn=Main Event]]</Template>
  <TotalTime>258</TotalTime>
  <Words>1213</Words>
  <Application>Microsoft Office PowerPoint</Application>
  <PresentationFormat>Widescreen</PresentationFormat>
  <Paragraphs>146</Paragraphs>
  <Slides>28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Helvetica Neue</vt:lpstr>
      <vt:lpstr>Impact</vt:lpstr>
      <vt:lpstr>Segoe UI</vt:lpstr>
      <vt:lpstr>Symbol</vt:lpstr>
      <vt:lpstr>Times New Roman</vt:lpstr>
      <vt:lpstr>Main Event</vt:lpstr>
      <vt:lpstr>Ransomware Defense: Building a Bulletproof Backup Strategy</vt:lpstr>
      <vt:lpstr>About me</vt:lpstr>
      <vt:lpstr>Agenda</vt:lpstr>
      <vt:lpstr>Know your audience quiz!</vt:lpstr>
      <vt:lpstr>Ransomware</vt:lpstr>
      <vt:lpstr>Ransomware cont..</vt:lpstr>
      <vt:lpstr>On-screen alert- WannaCry Ransomware</vt:lpstr>
      <vt:lpstr>Map of the countries initially affected by WannaCry Ransomware</vt:lpstr>
      <vt:lpstr>Why attacks succeed </vt:lpstr>
      <vt:lpstr>Why attacks succeed cont..</vt:lpstr>
      <vt:lpstr>What is the typical cost to a business? </vt:lpstr>
      <vt:lpstr>How can you protect yourself? </vt:lpstr>
      <vt:lpstr>How can you protect yourself? Cont..</vt:lpstr>
      <vt:lpstr>Azure Backup </vt:lpstr>
      <vt:lpstr>Azure Backup demo: Business Continuity Center</vt:lpstr>
      <vt:lpstr>Azure Backup demo:-Recover Service vault</vt:lpstr>
      <vt:lpstr>Azure Backup demo: Backup goal</vt:lpstr>
      <vt:lpstr>Azure Backup demo: Backup Goal</vt:lpstr>
      <vt:lpstr>Azure Backup demo: configure Backup</vt:lpstr>
      <vt:lpstr>Azure Backup demo: Add Virtual Machine</vt:lpstr>
      <vt:lpstr>Validate backups </vt:lpstr>
      <vt:lpstr>What to do before an attack? </vt:lpstr>
      <vt:lpstr>What to do before an attack? cont..</vt:lpstr>
      <vt:lpstr>Steps to take before an attack </vt:lpstr>
      <vt:lpstr>What to do during an attack </vt:lpstr>
      <vt:lpstr>Post attack </vt:lpstr>
      <vt:lpstr>References</vt:lpstr>
      <vt:lpstr>Q&amp;A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Sunil Kumar CSE</dc:creator>
  <cp:lastModifiedBy>Sunil Kumar CSE</cp:lastModifiedBy>
  <cp:revision>16</cp:revision>
  <dcterms:created xsi:type="dcterms:W3CDTF">2025-02-20T06:03:44Z</dcterms:created>
  <dcterms:modified xsi:type="dcterms:W3CDTF">2025-02-23T14:39:27Z</dcterms:modified>
</cp:coreProperties>
</file>