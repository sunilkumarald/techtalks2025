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1" autoAdjust="0"/>
    <p:restoredTop sz="94660"/>
  </p:normalViewPr>
  <p:slideViewPr>
    <p:cSldViewPr snapToGrid="0">
      <p:cViewPr varScale="1">
        <p:scale>
          <a:sx n="87" d="100"/>
          <a:sy n="87" d="100"/>
        </p:scale>
        <p:origin x="4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F96C-DDBE-310B-E4C2-D9658C1DE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11184-1A44-D816-B241-A5E206137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9BACF-0742-7B27-1961-385E76C0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5CB3D-4B92-923B-C6B4-EB225F59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8081F-C91E-517C-65E0-BE728A82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5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2E9E-3C50-509B-CDC9-E95F9614E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D6C13-1193-CE90-63A0-7B91579E7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91DC0-532F-75D3-0AB0-A0E61069A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A3CA4-8C84-3591-A494-1C670B0C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A234A-CE40-3F31-FEA1-750EBA40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49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900F-9F99-3C5D-A1A1-E91E162F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D9805-5EBB-8C44-EE10-B39DC34FD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25243-52BA-33E1-363F-0BBB7067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FFB60-C9B9-25C9-258C-0923C4DF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BF385-18C2-CC44-C354-385793832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97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ED8C-77BF-88A0-3673-4F486A17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20B7A-1AFF-734C-6854-AC1692196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FF495-9BA4-7901-49F3-2E510A148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492F-7458-693C-A3BB-6A9AFBAA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3726A-2B77-22D0-7074-3C0654A7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3B433-ECE6-A17B-D9B1-0385ACDD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86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BE02-ABBD-80AC-E6CD-42FB7A6F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5E1D0-28BF-4203-C28E-07073BE18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9560F-79EF-3EBC-77DC-6D94788E2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1F636-2E1C-7899-2B89-CB586769B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A4C60-84FF-F0F6-7039-A56D4710F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2A92B0-A555-DA68-2204-E9EF3043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5F8B5-CA27-4643-F74C-479B5F81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890D6C-664E-E335-C4D2-7CCEE8FA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19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4C8C-8682-C113-C698-D977F712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A033D-3C9F-1BBE-0CE1-371CEEB6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C72F8-9C7B-2823-6EAF-ED35B9D5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3B795-1478-99F5-496D-16639F22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67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1B1FD-9BB5-57E1-7987-922AAEB4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68461-D466-6E80-4DFD-F1ED4F66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ACFAF-3954-A1C3-28C2-6748F6BF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70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7527-BCE0-C05B-E053-B421707C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465F3-EE82-0F4F-AEE6-FD1981F76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EBC54-C5F0-BFED-DBD1-1017BF37E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613F3-3A1F-115D-1E6B-AE55F335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C36AC-D9A6-E33D-8608-626E6DCA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A8D2D-E02B-0E1C-62FC-348D8E20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62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7ECC-C472-77A9-F225-B6CBF161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3B3B8A-9BF9-F745-E380-5F3462592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FC36F-56B5-6434-CB16-25EC7CDD8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41306-15B8-9B1C-930E-9AD5CF7A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9995B-4168-4DEA-20ED-3A9D9D63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216B4-9792-697A-B45B-5D4E34E4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8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47AD-CE8A-A60F-2F4F-BDF1E8DD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828F7-C7FA-532C-F47D-3B17A484D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65D5-26C0-66AA-768D-821FAC0F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49558-C9A1-5F49-9337-EDCE5E46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2887C-8BFA-0603-1176-89A6D009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869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DB9D6-6AE0-26AD-E3D3-8BBF1703A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649DA-0B0E-6C6A-2198-F85E8A313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2D9C3-2CBA-AFA9-5DC7-39FEB5DD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34BBD-19E4-0E49-3D25-509603D7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4017-CD80-2373-3FBC-012C6DB0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4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3BD4D-5FE1-516A-7BEE-9D672213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5224-1BA0-6BC2-44B2-A811630F8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D8E07-165D-4072-8C82-529074889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02C3E-9645-45B9-AB0F-4404CD29F5B6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7E1F8-F83E-2171-FEB6-DB7384C5F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1B3F5-3F6B-4998-D09C-25E42CC72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2C0B-84DD-4714-865D-A0C8FB3BA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67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products/security/?nc=sn&amp;loc=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FDC2-5595-F7CE-9A1C-81B65661D7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AWS Orientation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A571D-A3C4-5CB1-F8D4-1EC3926211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Mr. Sunil Kumar</a:t>
            </a:r>
          </a:p>
        </p:txBody>
      </p:sp>
    </p:spTree>
    <p:extLst>
      <p:ext uri="{BB962C8B-B14F-4D97-AF65-F5344CB8AC3E}">
        <p14:creationId xmlns:p14="http://schemas.microsoft.com/office/powerpoint/2010/main" val="40314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A785-5B6C-7819-E9EA-BE0C5510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+mn-lt"/>
              </a:rPr>
              <a:t>Agenda- Session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F4AFE-975A-0047-D25E-0FD90CC8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038"/>
            <a:ext cx="10515600" cy="5077925"/>
          </a:xfrm>
        </p:spPr>
        <p:txBody>
          <a:bodyPr/>
          <a:lstStyle/>
          <a:p>
            <a:r>
              <a:rPr lang="en-IN" sz="2000" dirty="0"/>
              <a:t>What is the Cloud Computing?</a:t>
            </a:r>
          </a:p>
          <a:p>
            <a:r>
              <a:rPr lang="en-US" sz="2000" dirty="0"/>
              <a:t>Types of Cloud Computing Deployment Models</a:t>
            </a:r>
            <a:endParaRPr lang="en-IN" sz="2000" dirty="0"/>
          </a:p>
          <a:p>
            <a:r>
              <a:rPr lang="en-US" sz="2000" dirty="0"/>
              <a:t>Benefits of Cloud Computing</a:t>
            </a:r>
          </a:p>
          <a:p>
            <a:r>
              <a:rPr lang="en-US" sz="2000" dirty="0"/>
              <a:t>Virtualization </a:t>
            </a:r>
          </a:p>
          <a:p>
            <a:r>
              <a:rPr lang="en-US" sz="2000" dirty="0"/>
              <a:t>Cloud computing service models</a:t>
            </a:r>
          </a:p>
          <a:p>
            <a:r>
              <a:rPr lang="en-IN" sz="2000" dirty="0"/>
              <a:t>AWS Global Infrastructure</a:t>
            </a:r>
          </a:p>
          <a:p>
            <a:r>
              <a:rPr lang="en-IN" sz="2000" dirty="0"/>
              <a:t>Key services overview:</a:t>
            </a:r>
          </a:p>
          <a:p>
            <a:pPr lvl="1"/>
            <a:r>
              <a:rPr lang="en-IN" sz="2000" dirty="0"/>
              <a:t>Compute</a:t>
            </a:r>
          </a:p>
          <a:p>
            <a:pPr lvl="1"/>
            <a:r>
              <a:rPr lang="en-IN" sz="2000" dirty="0"/>
              <a:t>Storage</a:t>
            </a:r>
          </a:p>
          <a:p>
            <a:pPr lvl="1"/>
            <a:r>
              <a:rPr lang="en-IN" sz="2000" dirty="0"/>
              <a:t>Databases </a:t>
            </a:r>
          </a:p>
          <a:p>
            <a:pPr lvl="1"/>
            <a:r>
              <a:rPr lang="en-IN" sz="2000" dirty="0"/>
              <a:t>Networking</a:t>
            </a:r>
          </a:p>
          <a:p>
            <a:pPr lvl="1"/>
            <a:r>
              <a:rPr lang="en-IN" sz="2000" dirty="0"/>
              <a:t>Security</a:t>
            </a:r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81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C9ED-CB46-1177-6547-EE3912B1B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577" y="110148"/>
            <a:ext cx="10870223" cy="848213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+mn-lt"/>
              </a:rPr>
              <a:t>Agenda Session-2- </a:t>
            </a:r>
            <a:r>
              <a:rPr lang="en-IN" sz="3200" b="1" dirty="0"/>
              <a:t>AWS for AI &amp; Data Science</a:t>
            </a:r>
            <a:br>
              <a:rPr lang="en-IN" sz="3200" dirty="0"/>
            </a:br>
            <a:endParaRPr lang="en-IN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5EBA9-7DCE-D019-87C7-EBED97DED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2177"/>
            <a:ext cx="10515600" cy="5464787"/>
          </a:xfrm>
        </p:spPr>
        <p:txBody>
          <a:bodyPr>
            <a:normAutofit/>
          </a:bodyPr>
          <a:lstStyle/>
          <a:p>
            <a:r>
              <a:rPr lang="en-US" sz="2000" dirty="0"/>
              <a:t>AWS AI/ML Services Overview</a:t>
            </a:r>
          </a:p>
          <a:p>
            <a:pPr lvl="1"/>
            <a:r>
              <a:rPr lang="en-IN" sz="2000" dirty="0"/>
              <a:t>Amazon SageMaker - Complete ML platform</a:t>
            </a:r>
          </a:p>
          <a:p>
            <a:pPr lvl="1"/>
            <a:r>
              <a:rPr lang="en-IN" sz="2000" dirty="0"/>
              <a:t>Amazon </a:t>
            </a:r>
            <a:r>
              <a:rPr lang="en-IN" sz="2000" dirty="0" err="1"/>
              <a:t>Rekognition</a:t>
            </a:r>
            <a:r>
              <a:rPr lang="en-IN" sz="2000" dirty="0"/>
              <a:t> - Computer vision</a:t>
            </a:r>
          </a:p>
          <a:p>
            <a:pPr lvl="1"/>
            <a:r>
              <a:rPr lang="en-IN" sz="2000" dirty="0"/>
              <a:t>Amazon Comprehend - Natural language processing</a:t>
            </a:r>
          </a:p>
          <a:p>
            <a:pPr lvl="1"/>
            <a:r>
              <a:rPr lang="en-IN" sz="2000" dirty="0"/>
              <a:t>Amazon </a:t>
            </a:r>
            <a:r>
              <a:rPr lang="en-IN" sz="2000" dirty="0" err="1"/>
              <a:t>Textract</a:t>
            </a:r>
            <a:r>
              <a:rPr lang="en-IN" sz="2000" dirty="0"/>
              <a:t> - Document analysis</a:t>
            </a:r>
          </a:p>
          <a:p>
            <a:pPr lvl="1"/>
            <a:r>
              <a:rPr lang="en-IN" sz="2000" dirty="0"/>
              <a:t>Amazon Polly - Text-to-speech</a:t>
            </a:r>
          </a:p>
          <a:p>
            <a:pPr lvl="1"/>
            <a:r>
              <a:rPr lang="en-IN" sz="2000" dirty="0"/>
              <a:t>Amazon Lex - Conversational AI</a:t>
            </a:r>
          </a:p>
          <a:p>
            <a:r>
              <a:rPr lang="en-US" sz="2000" dirty="0"/>
              <a:t>Data Analytics and Storage Solutions</a:t>
            </a:r>
          </a:p>
          <a:p>
            <a:pPr lvl="1"/>
            <a:r>
              <a:rPr lang="en-IN" sz="2000" dirty="0"/>
              <a:t>Amazon S3 - Object storage for data lakes</a:t>
            </a:r>
          </a:p>
          <a:p>
            <a:pPr lvl="1"/>
            <a:r>
              <a:rPr lang="en-IN" sz="2000" dirty="0"/>
              <a:t>Amazon Redshift - Data warehousing</a:t>
            </a:r>
          </a:p>
          <a:p>
            <a:pPr lvl="1"/>
            <a:r>
              <a:rPr lang="en-IN" sz="2000" dirty="0"/>
              <a:t>AWS Glue - ETL services</a:t>
            </a:r>
          </a:p>
          <a:p>
            <a:pPr lvl="1"/>
            <a:r>
              <a:rPr lang="en-IN" sz="2000" dirty="0"/>
              <a:t>Amazon Kinesis - Real-time data streaming</a:t>
            </a:r>
          </a:p>
          <a:p>
            <a:pPr lvl="1"/>
            <a:r>
              <a:rPr lang="en-IN" sz="2000" dirty="0"/>
              <a:t>Amazon Athena - Serverless query service</a:t>
            </a:r>
          </a:p>
        </p:txBody>
      </p:sp>
    </p:spTree>
    <p:extLst>
      <p:ext uri="{BB962C8B-B14F-4D97-AF65-F5344CB8AC3E}">
        <p14:creationId xmlns:p14="http://schemas.microsoft.com/office/powerpoint/2010/main" val="33325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FD07-E4EF-D001-EC30-FB954DCCA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6" y="365125"/>
            <a:ext cx="11177954" cy="59323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+mn-lt"/>
              </a:rPr>
              <a:t>Agenda </a:t>
            </a:r>
            <a:r>
              <a:rPr lang="en-US" sz="3200" b="1" dirty="0">
                <a:latin typeface="+mn-lt"/>
              </a:rPr>
              <a:t>Session 3: Career Development &amp; Learning Path</a:t>
            </a:r>
            <a:endParaRPr lang="en-IN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6F07-6636-1E14-DC4A-678B1E9D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8" y="1055077"/>
            <a:ext cx="10791092" cy="5121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AWS Learning Resources (10 minutes)</a:t>
            </a:r>
          </a:p>
          <a:p>
            <a:r>
              <a:rPr lang="en-US" sz="2000" dirty="0"/>
              <a:t>AWS Training and Certification portal</a:t>
            </a:r>
          </a:p>
          <a:p>
            <a:pPr lvl="1"/>
            <a:r>
              <a:rPr lang="en-US" sz="1600" dirty="0"/>
              <a:t>https://aws.amazon.com/training/</a:t>
            </a:r>
          </a:p>
          <a:p>
            <a:r>
              <a:rPr lang="en-US" sz="2000" dirty="0"/>
              <a:t> AWS Educate program for students</a:t>
            </a:r>
          </a:p>
          <a:p>
            <a:pPr lvl="1"/>
            <a:r>
              <a:rPr lang="en-US" sz="1600" dirty="0"/>
              <a:t>https://www.awseducate.com/student/s/content</a:t>
            </a:r>
          </a:p>
          <a:p>
            <a:r>
              <a:rPr lang="en-US" sz="2000" dirty="0"/>
              <a:t> Free tier benefits and limitations</a:t>
            </a:r>
          </a:p>
          <a:p>
            <a:pPr lvl="1"/>
            <a:r>
              <a:rPr lang="en-US" sz="1600" dirty="0"/>
              <a:t>https://aws.amazon.com/blogs/aws/aws-free-tier-update-new-customers-can-get-started-and-explore-aws-with-up-to-200-in-credits/</a:t>
            </a:r>
          </a:p>
          <a:p>
            <a:r>
              <a:rPr lang="en-US" sz="2000" dirty="0"/>
              <a:t>AWS Skill Builder platform(AWS Builder ID)</a:t>
            </a:r>
          </a:p>
          <a:p>
            <a:pPr lvl="1"/>
            <a:r>
              <a:rPr lang="en-US" sz="1600" dirty="0"/>
              <a:t>https://skillbuilder.aws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AWS Certifications for AI/DS students (10 minutes)</a:t>
            </a:r>
          </a:p>
          <a:p>
            <a:r>
              <a:rPr lang="en-US" sz="2000" dirty="0"/>
              <a:t>AWS Certified Cloud Practitioner (Foundational)</a:t>
            </a:r>
          </a:p>
          <a:p>
            <a:r>
              <a:rPr lang="en-US" sz="2000" dirty="0"/>
              <a:t>AWS Certified Solutions Architect Associate (Intermediate)</a:t>
            </a:r>
          </a:p>
          <a:p>
            <a:r>
              <a:rPr lang="en-US" sz="2000" dirty="0"/>
              <a:t>AWS Certified Machine Learning - Specialty</a:t>
            </a:r>
          </a:p>
          <a:p>
            <a:r>
              <a:rPr lang="en-US" sz="2000" dirty="0"/>
              <a:t>AWS Certified Data Analytics - Specialty</a:t>
            </a:r>
          </a:p>
        </p:txBody>
      </p:sp>
    </p:spTree>
    <p:extLst>
      <p:ext uri="{BB962C8B-B14F-4D97-AF65-F5344CB8AC3E}">
        <p14:creationId xmlns:p14="http://schemas.microsoft.com/office/powerpoint/2010/main" val="210482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F299-1237-A64B-2A26-3C4E9A0B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91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Career Development &amp; Learning Path cont..</a:t>
            </a:r>
            <a:endParaRPr lang="en-IN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0DA83-31F0-6067-2670-7D83868C8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15" y="1195754"/>
            <a:ext cx="11183816" cy="498120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Career Opportunities in Cloud &amp; AI (10 minutes)</a:t>
            </a:r>
          </a:p>
          <a:p>
            <a:r>
              <a:rPr lang="en-US" sz="2000" b="1" dirty="0"/>
              <a:t>Job roles: </a:t>
            </a:r>
            <a:r>
              <a:rPr lang="en-US" sz="2000" dirty="0"/>
              <a:t>Cloud Architect, ML Engineer, Data Engineer</a:t>
            </a:r>
          </a:p>
          <a:p>
            <a:r>
              <a:rPr lang="en-US" sz="2000" dirty="0"/>
              <a:t> Industry demand and salary expectations</a:t>
            </a:r>
          </a:p>
          <a:p>
            <a:r>
              <a:rPr lang="en-US" sz="2000" dirty="0"/>
              <a:t>Building a portfolio with AWS projects</a:t>
            </a:r>
          </a:p>
          <a:p>
            <a:r>
              <a:rPr lang="en-US" sz="2000" dirty="0"/>
              <a:t>AWS Skill Badges and digital credentials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41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CA8D-2039-5CB1-AB93-7FEA0BF6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067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+mn-lt"/>
              </a:rPr>
              <a:t>Session 4: Hands-on</a:t>
            </a:r>
            <a:br>
              <a:rPr lang="en-IN" sz="3200" b="1" dirty="0">
                <a:latin typeface="+mn-lt"/>
              </a:rPr>
            </a:br>
            <a:endParaRPr lang="en-IN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D430-3CA9-3573-E975-05BB4ACD7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577" y="764932"/>
            <a:ext cx="10870223" cy="54120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AWS Account Setup (10 minutes)</a:t>
            </a:r>
          </a:p>
          <a:p>
            <a:r>
              <a:rPr lang="en-IN" sz="2000" dirty="0"/>
              <a:t>Creating AWS Free Tier account</a:t>
            </a:r>
          </a:p>
          <a:p>
            <a:r>
              <a:rPr lang="en-IN" sz="2000" dirty="0"/>
              <a:t>Setting up Multi-Factor Authentication (MFA)</a:t>
            </a:r>
          </a:p>
          <a:p>
            <a:r>
              <a:rPr lang="en-IN" sz="2000" dirty="0"/>
              <a:t>Understanding billing and cost monitoring</a:t>
            </a:r>
          </a:p>
          <a:p>
            <a:r>
              <a:rPr lang="en-IN" sz="2000" dirty="0"/>
              <a:t>AWS Identity and Access Management (IAM) basics</a:t>
            </a:r>
          </a:p>
          <a:p>
            <a:pPr marL="0" indent="0">
              <a:buNone/>
            </a:pPr>
            <a:r>
              <a:rPr lang="en-IN" sz="2000" b="1" dirty="0"/>
              <a:t>AWS Console Navigation (10 minutes)</a:t>
            </a:r>
          </a:p>
          <a:p>
            <a:r>
              <a:rPr lang="en-IN" sz="2000" dirty="0"/>
              <a:t>Understanding regions and availability zones</a:t>
            </a:r>
          </a:p>
          <a:p>
            <a:r>
              <a:rPr lang="en-IN" sz="2000" dirty="0"/>
              <a:t>Introduction to AWS CLI (Command Line Interface)</a:t>
            </a:r>
          </a:p>
          <a:p>
            <a:pPr marL="0" indent="0">
              <a:buNone/>
            </a:pPr>
            <a:r>
              <a:rPr lang="en-IN" sz="2000" b="1" dirty="0"/>
              <a:t>Mini-Project 1: Launch EC2 Instance (15 minutes)</a:t>
            </a:r>
          </a:p>
          <a:p>
            <a:r>
              <a:rPr lang="en-IN" sz="2000" dirty="0"/>
              <a:t>Launching a Linux virtual server (Ubuntu/Amazon Linux)</a:t>
            </a:r>
          </a:p>
          <a:p>
            <a:r>
              <a:rPr lang="en-IN" sz="2000" dirty="0"/>
              <a:t>Selecting appropriate instance types</a:t>
            </a:r>
          </a:p>
          <a:p>
            <a:r>
              <a:rPr lang="en-IN" sz="2000" dirty="0"/>
              <a:t>Security groups and key pairs</a:t>
            </a:r>
          </a:p>
          <a:p>
            <a:r>
              <a:rPr lang="en-IN" sz="2000" dirty="0"/>
              <a:t>Connecting to the instance via SSH</a:t>
            </a:r>
          </a:p>
          <a:p>
            <a:r>
              <a:rPr lang="en-IN" sz="2000" dirty="0"/>
              <a:t>Basic server management commands</a:t>
            </a:r>
          </a:p>
          <a:p>
            <a:r>
              <a:rPr lang="en-IN" sz="2000" b="1" dirty="0"/>
              <a:t>Mini-Project 2: Static Website Hosting (15 minutes)</a:t>
            </a:r>
          </a:p>
        </p:txBody>
      </p:sp>
    </p:spTree>
    <p:extLst>
      <p:ext uri="{BB962C8B-B14F-4D97-AF65-F5344CB8AC3E}">
        <p14:creationId xmlns:p14="http://schemas.microsoft.com/office/powerpoint/2010/main" val="1432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AEA8-99BE-868C-6E44-83ADF1E9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Cloud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4C5A-AE9E-9B80-6359-B7C977B7A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254" y="1441938"/>
            <a:ext cx="10729546" cy="4735025"/>
          </a:xfrm>
        </p:spPr>
        <p:txBody>
          <a:bodyPr/>
          <a:lstStyle/>
          <a:p>
            <a:r>
              <a:rPr lang="en-US" dirty="0"/>
              <a:t>Cloud computing is the on-demand availability of computing resources (such as storage and infrastructure), as services over the internet. </a:t>
            </a:r>
          </a:p>
          <a:p>
            <a:r>
              <a:rPr lang="en-US" dirty="0"/>
              <a:t>It eliminates the need for individuals and businesses to self-manage physical resources themselves, and only pay for what they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083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3E0E-9BB1-ADBC-F5A2-12FAEC19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+mn-lt"/>
              </a:rPr>
              <a:t>Types of cloud computing deployment models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B395D-0414-71AF-726A-D09783BBD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31" y="914400"/>
            <a:ext cx="11254154" cy="526256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Public clouds </a:t>
            </a:r>
            <a:r>
              <a:rPr lang="en-US" dirty="0"/>
              <a:t>are run by third-party cloud service providers. </a:t>
            </a:r>
          </a:p>
          <a:p>
            <a:pPr algn="just"/>
            <a:r>
              <a:rPr lang="en-US" dirty="0"/>
              <a:t>They offer compute, storage, and network resources over the internet, enabling companies to access shared on-demand resources based on their unique requirements and business goals.</a:t>
            </a:r>
          </a:p>
          <a:p>
            <a:pPr algn="just"/>
            <a:r>
              <a:rPr lang="en-US" b="1" dirty="0"/>
              <a:t>Private clouds </a:t>
            </a:r>
            <a:r>
              <a:rPr lang="en-US" dirty="0"/>
              <a:t>are built, managed, and owned by a single organization and privately hosted in their own data centers, commonly known as “on-premises” or “on-prem.” </a:t>
            </a:r>
          </a:p>
          <a:p>
            <a:pPr algn="just"/>
            <a:r>
              <a:rPr lang="en-US" b="1" dirty="0"/>
              <a:t>Hybrid clouds </a:t>
            </a:r>
            <a:r>
              <a:rPr lang="en-US" dirty="0"/>
              <a:t>combine public and private cloud models, allowing companies to leverage public cloud services and maintain the security and compliance capabilities commonly found in private cloud architectures.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009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E372-33B4-B11D-F009-177C57BC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25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Benefits of Cloud Computing</a:t>
            </a:r>
            <a:br>
              <a:rPr lang="en-US" sz="3200" b="1" dirty="0">
                <a:latin typeface="+mn-lt"/>
              </a:rPr>
            </a:br>
            <a:endParaRPr lang="en-IN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9E58B-9CF0-1C4F-7CE7-6A9D9B10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262"/>
            <a:ext cx="10515600" cy="4875701"/>
          </a:xfrm>
        </p:spPr>
        <p:txBody>
          <a:bodyPr/>
          <a:lstStyle/>
          <a:p>
            <a:r>
              <a:rPr lang="en-IN" dirty="0"/>
              <a:t>Agility</a:t>
            </a:r>
          </a:p>
          <a:p>
            <a:r>
              <a:rPr lang="en-IN" dirty="0"/>
              <a:t>Elasticity</a:t>
            </a:r>
          </a:p>
          <a:p>
            <a:r>
              <a:rPr lang="en-IN" dirty="0"/>
              <a:t>Cost savings</a:t>
            </a:r>
          </a:p>
          <a:p>
            <a:r>
              <a:rPr lang="en-IN" dirty="0"/>
              <a:t>Deploy globally in minutes</a:t>
            </a:r>
          </a:p>
        </p:txBody>
      </p:sp>
    </p:spTree>
    <p:extLst>
      <p:ext uri="{BB962C8B-B14F-4D97-AF65-F5344CB8AC3E}">
        <p14:creationId xmlns:p14="http://schemas.microsoft.com/office/powerpoint/2010/main" val="3746963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9FB9-DF34-405E-A48A-889E7AD4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137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Virtualization</a:t>
            </a:r>
            <a:br>
              <a:rPr lang="en-US" sz="3200" b="1" dirty="0">
                <a:latin typeface="+mn-lt"/>
              </a:rPr>
            </a:br>
            <a:endParaRPr lang="en-IN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064B-6130-21BF-231E-C93F0C7F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908"/>
            <a:ext cx="10515600" cy="5157055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Virtualization is a technology that enables the creation of virtual environments from a single physical machine, allowing for more efficient use of resources by distributing them across computing environments.</a:t>
            </a:r>
          </a:p>
          <a:p>
            <a:pPr algn="just"/>
            <a:r>
              <a:rPr lang="en-US" sz="2000" dirty="0"/>
              <a:t>Using software, virtualization creates an abstraction layer over computer hardware, dividing a single system’s components such as processors, memory, networks and storage into multiple virtual machines (VMs). </a:t>
            </a:r>
          </a:p>
          <a:p>
            <a:pPr algn="just"/>
            <a:r>
              <a:rPr lang="en-US" sz="2000" dirty="0"/>
              <a:t>Each VM runs its own operating system (OS) and behaves like a separate physical computer, despite sharing the same underlying hardware.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123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78A6-7D94-D989-2673-C73E0A43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cloud computing service models</a:t>
            </a:r>
            <a:endParaRPr lang="en-IN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EA718-E424-F81E-0F71-F5354161C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392"/>
            <a:ext cx="10515600" cy="4796571"/>
          </a:xfrm>
        </p:spPr>
        <p:txBody>
          <a:bodyPr/>
          <a:lstStyle/>
          <a:p>
            <a:r>
              <a:rPr lang="en-US" dirty="0"/>
              <a:t>The main cloud computing service models include </a:t>
            </a:r>
            <a:r>
              <a:rPr lang="en-US" b="1" dirty="0"/>
              <a:t>infrastructure as a service </a:t>
            </a:r>
            <a:r>
              <a:rPr lang="en-US" dirty="0"/>
              <a:t>offers compute and storage services, </a:t>
            </a:r>
          </a:p>
          <a:p>
            <a:r>
              <a:rPr lang="en-US" b="1" dirty="0"/>
              <a:t>platform as a service </a:t>
            </a:r>
            <a:r>
              <a:rPr lang="en-US" dirty="0"/>
              <a:t>offers a develop-and-deploy environment to build cloud apps, and </a:t>
            </a:r>
          </a:p>
          <a:p>
            <a:r>
              <a:rPr lang="en-US" b="1" dirty="0"/>
              <a:t>software as a service </a:t>
            </a:r>
            <a:r>
              <a:rPr lang="en-US" dirty="0"/>
              <a:t>delivers apps as 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9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6403-4E0B-C7D6-9699-97C9FAD6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Global Infrastructure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25536-CBB9-4CEB-529C-36B6B27AA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68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8D26-FB2A-4C65-57A3-DBDA32DBA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services overview: Compute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D3607-8E48-A1F9-31A2-F462B2197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2662"/>
            <a:ext cx="10515600" cy="510430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Amazon Elastic Compute Cloud</a:t>
            </a:r>
          </a:p>
          <a:p>
            <a:r>
              <a:rPr lang="en-IN" dirty="0"/>
              <a:t>Complete control of your computing resources</a:t>
            </a:r>
          </a:p>
          <a:p>
            <a:r>
              <a:rPr lang="en-IN" dirty="0"/>
              <a:t>Resizable compute capacity</a:t>
            </a:r>
          </a:p>
          <a:p>
            <a:r>
              <a:rPr lang="en-IN" dirty="0"/>
              <a:t>Over 800+ types of compute instances</a:t>
            </a:r>
          </a:p>
          <a:p>
            <a:r>
              <a:rPr lang="en-IN" dirty="0"/>
              <a:t>Instance type details</a:t>
            </a:r>
          </a:p>
          <a:p>
            <a:pPr lvl="1"/>
            <a:r>
              <a:rPr lang="en-IN" dirty="0"/>
              <a:t>-General Purpose</a:t>
            </a:r>
          </a:p>
          <a:p>
            <a:pPr lvl="1"/>
            <a:r>
              <a:rPr lang="en-IN" dirty="0"/>
              <a:t>Compute Optimized</a:t>
            </a:r>
          </a:p>
          <a:p>
            <a:pPr lvl="1"/>
            <a:r>
              <a:rPr lang="en-IN" dirty="0"/>
              <a:t>-Memory optimized</a:t>
            </a:r>
          </a:p>
          <a:p>
            <a:pPr lvl="1"/>
            <a:r>
              <a:rPr lang="en-IN" dirty="0"/>
              <a:t>-</a:t>
            </a:r>
            <a:r>
              <a:rPr lang="en-IN" dirty="0" err="1"/>
              <a:t>Accelereated</a:t>
            </a:r>
            <a:r>
              <a:rPr lang="en-IN" dirty="0"/>
              <a:t> optimized</a:t>
            </a:r>
          </a:p>
          <a:p>
            <a:pPr lvl="1"/>
            <a:r>
              <a:rPr lang="en-IN" dirty="0"/>
              <a:t>-storage optimized</a:t>
            </a:r>
          </a:p>
          <a:p>
            <a:pPr marL="457200" lvl="1" indent="0">
              <a:buNone/>
            </a:pPr>
            <a:r>
              <a:rPr lang="en-IN" dirty="0"/>
              <a:t>Purchase options</a:t>
            </a:r>
          </a:p>
          <a:p>
            <a:pPr lvl="1"/>
            <a:r>
              <a:rPr lang="en-IN" dirty="0"/>
              <a:t>-On-demand instances</a:t>
            </a:r>
          </a:p>
          <a:p>
            <a:pPr lvl="1"/>
            <a:r>
              <a:rPr lang="en-IN" dirty="0"/>
              <a:t>-saving plans</a:t>
            </a:r>
          </a:p>
          <a:p>
            <a:pPr lvl="1"/>
            <a:r>
              <a:rPr lang="en-IN" dirty="0"/>
              <a:t>-spot instances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471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ABD66-22FF-1390-3B9B-77657B1E7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services overview: Storage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B7A0-E859-F9D3-D7EC-E4653F71E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Amazon S3</a:t>
            </a:r>
          </a:p>
          <a:p>
            <a:r>
              <a:rPr lang="en-IN" dirty="0"/>
              <a:t>Amazon EFS</a:t>
            </a:r>
          </a:p>
          <a:p>
            <a:r>
              <a:rPr lang="en-IN" dirty="0"/>
              <a:t>Amazon EBS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5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52C8-6B10-FC8D-7F4C-B5586660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services overview: Databases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51E28-502F-31EA-5732-9AA1C21BC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Relational –Amazon RDS, Amazon Aurora, </a:t>
            </a:r>
          </a:p>
          <a:p>
            <a:r>
              <a:rPr lang="en-IN" dirty="0"/>
              <a:t>Non-relational-Amazon DynamoDB</a:t>
            </a:r>
          </a:p>
          <a:p>
            <a:r>
              <a:rPr lang="en-IN" dirty="0"/>
              <a:t>Non-relational document-Amazon </a:t>
            </a:r>
            <a:r>
              <a:rPr lang="en-IN" dirty="0" err="1"/>
              <a:t>DocumentDB</a:t>
            </a:r>
            <a:endParaRPr lang="en-IN" dirty="0"/>
          </a:p>
          <a:p>
            <a:r>
              <a:rPr lang="en-IN" dirty="0"/>
              <a:t>Non-relational in-memory-Amazon </a:t>
            </a:r>
            <a:r>
              <a:rPr lang="en-IN" dirty="0" err="1"/>
              <a:t>ElastiCache</a:t>
            </a:r>
            <a:endParaRPr lang="en-IN" dirty="0"/>
          </a:p>
          <a:p>
            <a:r>
              <a:rPr lang="en-IN" dirty="0"/>
              <a:t>Non-relational graph-Amazon </a:t>
            </a:r>
            <a:r>
              <a:rPr lang="en-IN" dirty="0" err="1"/>
              <a:t>neptune</a:t>
            </a:r>
            <a:endParaRPr lang="en-IN" dirty="0"/>
          </a:p>
          <a:p>
            <a:r>
              <a:rPr lang="en-IN" dirty="0"/>
              <a:t>Non-relational ledger-Amazon QLDB</a:t>
            </a:r>
          </a:p>
        </p:txBody>
      </p:sp>
    </p:spTree>
    <p:extLst>
      <p:ext uri="{BB962C8B-B14F-4D97-AF65-F5344CB8AC3E}">
        <p14:creationId xmlns:p14="http://schemas.microsoft.com/office/powerpoint/2010/main" val="3216243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B4E8-EFAD-281D-E4CE-683116552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services overview: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E6D5-AF46-54F1-8E36-10237DEE2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Amazon VPC(Virtual Private Cloud)</a:t>
            </a:r>
          </a:p>
          <a:p>
            <a:r>
              <a:rPr lang="en-IN" dirty="0"/>
              <a:t>Your private network space in the public AWS cloud</a:t>
            </a:r>
          </a:p>
          <a:p>
            <a:r>
              <a:rPr lang="en-IN" dirty="0"/>
              <a:t>Logical isolation for workloads</a:t>
            </a:r>
          </a:p>
          <a:p>
            <a:r>
              <a:rPr lang="en-IN" dirty="0"/>
              <a:t>Custom access controls and security settings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519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C1A5-1447-2927-2380-B4B190B8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services overview: Security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4E8A0-CBE7-417B-4BB0-7AD2DF48F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IAM</a:t>
            </a:r>
          </a:p>
          <a:p>
            <a:r>
              <a:rPr lang="en-IN" dirty="0"/>
              <a:t>AWS IAM identity </a:t>
            </a:r>
            <a:r>
              <a:rPr lang="en-IN" dirty="0" err="1"/>
              <a:t>center</a:t>
            </a:r>
            <a:endParaRPr lang="en-IN" dirty="0"/>
          </a:p>
          <a:p>
            <a:r>
              <a:rPr lang="en-IN" dirty="0"/>
              <a:t>Amazon Cognito</a:t>
            </a:r>
          </a:p>
          <a:p>
            <a:r>
              <a:rPr lang="en-IN" dirty="0"/>
              <a:t>AWS Organizations</a:t>
            </a:r>
          </a:p>
          <a:p>
            <a:r>
              <a:rPr lang="en-IN" dirty="0"/>
              <a:t>Amazon </a:t>
            </a:r>
            <a:r>
              <a:rPr lang="en-IN" dirty="0" err="1"/>
              <a:t>GuardDuty</a:t>
            </a:r>
            <a:endParaRPr lang="en-IN" dirty="0"/>
          </a:p>
          <a:p>
            <a:r>
              <a:rPr lang="en-IN"/>
              <a:t>Many more</a:t>
            </a:r>
            <a:endParaRPr lang="en-IN" dirty="0"/>
          </a:p>
          <a:p>
            <a:r>
              <a:rPr lang="en-IN" dirty="0">
                <a:hlinkClick r:id="rId2"/>
              </a:rPr>
              <a:t>https://aws.amazon.com/products/security/?nc=sn&amp;loc=2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12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876</Words>
  <Application>Microsoft Office PowerPoint</Application>
  <PresentationFormat>Widescreen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AWS Orientation</vt:lpstr>
      <vt:lpstr>Agenda- Session 1</vt:lpstr>
      <vt:lpstr>Agenda Session-2- AWS for AI &amp; Data Science </vt:lpstr>
      <vt:lpstr>Agenda Session 3: Career Development &amp; Learning Path</vt:lpstr>
      <vt:lpstr>Career Development &amp; Learning Path cont..</vt:lpstr>
      <vt:lpstr>Session 4: Hands-on </vt:lpstr>
      <vt:lpstr>What is the Cloud Computing?</vt:lpstr>
      <vt:lpstr>Types of cloud computing deployment models </vt:lpstr>
      <vt:lpstr>Benefits of Cloud Computing </vt:lpstr>
      <vt:lpstr>Virtualization </vt:lpstr>
      <vt:lpstr>cloud computing service models</vt:lpstr>
      <vt:lpstr>AWS Global Infrastructure </vt:lpstr>
      <vt:lpstr>Key services overview: Compute  </vt:lpstr>
      <vt:lpstr>Key services overview: Storage </vt:lpstr>
      <vt:lpstr>Key services overview: Databases   </vt:lpstr>
      <vt:lpstr>Key services overview: Networking</vt:lpstr>
      <vt:lpstr>Key services overview: Security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Kumar CSE</dc:creator>
  <cp:lastModifiedBy>Sunil Kumar CSE</cp:lastModifiedBy>
  <cp:revision>4</cp:revision>
  <dcterms:created xsi:type="dcterms:W3CDTF">2025-08-11T05:33:07Z</dcterms:created>
  <dcterms:modified xsi:type="dcterms:W3CDTF">2025-08-11T12:59:46Z</dcterms:modified>
</cp:coreProperties>
</file>